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16-May-26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16-May-26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16-May-26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16-May-26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16-May-26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16-May-26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16-May-26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16-May-26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16-May-26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16-May-26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16-May-26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16-May-26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2560320"/>
            <a:ext cx="9601200" cy="1097280"/>
          </a:xfrm>
          <a:prstGeom prst="rect">
            <a:avLst/>
          </a:prstGeom>
          <a:noFill/>
        </p:spPr>
        <p:txBody>
          <a:bodyPr wrap="square"/>
          <a:lstStyle/>
          <a:p>
            <a:pPr algn="ctr"/>
            <a:r>
              <a:rPr sz="4400" b="1" i="0">
                <a:solidFill>
                  <a:srgbClr val="FFFFFF"/>
                </a:solidFill>
                <a:latin typeface="Calibri"/>
              </a:rPr>
              <a:t>SmartWaste360</a:t>
            </a:r>
          </a:p>
        </p:txBody>
      </p:sp>
      <p:sp>
        <p:nvSpPr>
          <p:cNvPr id="7" name="TextBox 6"/>
          <p:cNvSpPr txBox="1"/>
          <p:nvPr/>
        </p:nvSpPr>
        <p:spPr>
          <a:xfrm>
            <a:off x="1371600" y="3566160"/>
            <a:ext cx="9601200" cy="640080"/>
          </a:xfrm>
          <a:prstGeom prst="rect">
            <a:avLst/>
          </a:prstGeom>
          <a:noFill/>
        </p:spPr>
        <p:txBody>
          <a:bodyPr wrap="square"/>
          <a:lstStyle/>
          <a:p>
            <a:pPr algn="ctr"/>
            <a:r>
              <a:rPr sz="2200" b="0" i="0">
                <a:solidFill>
                  <a:srgbClr val="BDC3C7"/>
                </a:solidFill>
                <a:latin typeface="Calibri"/>
              </a:rPr>
              <a:t>AI-Powered Waste Management Platform</a:t>
            </a:r>
          </a:p>
        </p:txBody>
      </p:sp>
      <p:sp>
        <p:nvSpPr>
          <p:cNvPr id="8" name="Rectangle 7"/>
          <p:cNvSpPr/>
          <p:nvPr/>
        </p:nvSpPr>
        <p:spPr>
          <a:xfrm>
            <a:off x="4572000" y="4297680"/>
            <a:ext cx="3017520" cy="36576"/>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0" y="4572000"/>
            <a:ext cx="7772400" cy="2103120"/>
          </a:xfrm>
          <a:prstGeom prst="rect">
            <a:avLst/>
          </a:prstGeom>
          <a:noFill/>
        </p:spPr>
        <p:txBody>
          <a:bodyPr wrap="square"/>
          <a:lstStyle/>
          <a:p>
            <a:pPr algn="ctr"/>
            <a:r>
              <a:rPr sz="1300" b="0" i="0" dirty="0">
                <a:solidFill>
                  <a:srgbClr val="BDC3C7"/>
                </a:solidFill>
                <a:latin typeface="Calibri"/>
              </a:rPr>
              <a:t>Final Project Review
Team Members:</a:t>
            </a:r>
            <a:endParaRPr lang="en-US" sz="1300" b="0" i="0" dirty="0">
              <a:solidFill>
                <a:srgbClr val="BDC3C7"/>
              </a:solidFill>
              <a:latin typeface="Calibri"/>
            </a:endParaRPr>
          </a:p>
          <a:p>
            <a:pPr algn="ctr"/>
            <a:r>
              <a:rPr lang="en-US" sz="1300" dirty="0">
                <a:solidFill>
                  <a:srgbClr val="BDC3C7"/>
                </a:solidFill>
              </a:rPr>
              <a:t>Bala Dheeraj Chennavaram  —  1602-23-733-006 </a:t>
            </a:r>
            <a:r>
              <a:rPr sz="1300" b="0" i="0" dirty="0">
                <a:solidFill>
                  <a:srgbClr val="BDC3C7"/>
                </a:solidFill>
                <a:latin typeface="Calibri"/>
              </a:rPr>
              <a:t>
  A Saketh  —  1602-23-733-042
  V Rohit Reddy  —  1602-23-733-065
Guide: </a:t>
            </a:r>
            <a:r>
              <a:rPr sz="1300" b="0" i="0" dirty="0" err="1">
                <a:solidFill>
                  <a:srgbClr val="BDC3C7"/>
                </a:solidFill>
                <a:latin typeface="Calibri"/>
              </a:rPr>
              <a:t>R.Sudha</a:t>
            </a:r>
            <a:r>
              <a:rPr sz="1300" b="0" i="0" dirty="0">
                <a:solidFill>
                  <a:srgbClr val="BDC3C7"/>
                </a:solidFill>
                <a:latin typeface="Calibri"/>
              </a:rPr>
              <a:t> (Associate Professor)
Department of Computer Science &amp; Engineering</a:t>
            </a:r>
          </a:p>
        </p:txBody>
      </p:sp>
      <p:pic>
        <p:nvPicPr>
          <p:cNvPr id="13" name="Picture 12">
            <a:extLst>
              <a:ext uri="{FF2B5EF4-FFF2-40B4-BE49-F238E27FC236}">
                <a16:creationId xmlns:a16="http://schemas.microsoft.com/office/drawing/2014/main" id="{377855B8-8542-AD3F-03EB-C1BDE1267072}"/>
              </a:ext>
            </a:extLst>
          </p:cNvPr>
          <p:cNvPicPr>
            <a:picLocks noChangeAspect="1"/>
          </p:cNvPicPr>
          <p:nvPr/>
        </p:nvPicPr>
        <p:blipFill>
          <a:blip r:embed="rId2"/>
          <a:stretch>
            <a:fillRect/>
          </a:stretch>
        </p:blipFill>
        <p:spPr>
          <a:xfrm>
            <a:off x="4934940" y="626582"/>
            <a:ext cx="2291639" cy="18422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Abstract</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34440"/>
            <a:ext cx="10789920" cy="5303520"/>
          </a:xfrm>
          <a:prstGeom prst="rect">
            <a:avLst/>
          </a:prstGeom>
          <a:noFill/>
        </p:spPr>
        <p:txBody>
          <a:bodyPr wrap="square"/>
          <a:lstStyle/>
          <a:p>
            <a:pPr algn="l"/>
            <a:r>
              <a:rPr sz="1400" b="0" i="0">
                <a:solidFill>
                  <a:srgbClr val="2C3E50"/>
                </a:solidFill>
                <a:latin typeface="Calibri"/>
              </a:rPr>
              <a:t>SmartWaste360 is a comprehensive, AI-powered waste management platform designed to revolutionize urban waste management. It leverages Google Gemini AI for real-time waste classification through image recognition, IoT-based smart bins with ESP32 + HC-SR04 ultrasonic sensors for fill-level monitoring, TSP-based route optimization with 2-opt improvement for collection efficiency, and a gamified community engagement system.
The platform supports three user roles — residents, waste collectors, and administrators — with tailored dashboards. Built with React 18, Python Flask, PostgreSQL (Neon), and deployed on Vercel + Render.
Key innovations: predictive waste generation analytics using NumPy linear regression, traffic-aware route planning, 7 automated notification types, and a complete IoT data pipeline from ESP32 sensor to live web 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Introduction</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34440"/>
            <a:ext cx="10789920" cy="1737360"/>
          </a:xfrm>
          <a:prstGeom prst="rect">
            <a:avLst/>
          </a:prstGeom>
          <a:noFill/>
        </p:spPr>
        <p:txBody>
          <a:bodyPr wrap="square"/>
          <a:lstStyle/>
          <a:p>
            <a:pPr algn="l"/>
            <a:r>
              <a:rPr sz="1300" b="0" i="0">
                <a:solidFill>
                  <a:srgbClr val="2C3E50"/>
                </a:solidFill>
                <a:latin typeface="Calibri"/>
              </a:rPr>
              <a:t>Rapid urbanization and population growth have led to an exponential increase in waste generation across cities worldwide. Traditional waste management systems rely heavily on manual processes, leading to operational inefficiencies, improper waste segregation, and environmental degradation. According to the World Bank, global waste generation is projected to increase by 70% by 2050, making the need for intelligent waste management solutions more critical than ever.
SmartWaste360 addresses these challenges through:</a:t>
            </a:r>
          </a:p>
        </p:txBody>
      </p:sp>
      <p:sp>
        <p:nvSpPr>
          <p:cNvPr id="7" name="TextBox 6"/>
          <p:cNvSpPr txBox="1"/>
          <p:nvPr/>
        </p:nvSpPr>
        <p:spPr>
          <a:xfrm>
            <a:off x="731520" y="3017520"/>
            <a:ext cx="10789920" cy="3474720"/>
          </a:xfrm>
          <a:prstGeom prst="rect">
            <a:avLst/>
          </a:prstGeom>
          <a:noFill/>
        </p:spPr>
        <p:txBody>
          <a:bodyPr wrap="square"/>
          <a:lstStyle/>
          <a:p>
            <a:pPr algn="l"/>
            <a:r>
              <a:rPr sz="1300" b="0">
                <a:solidFill>
                  <a:srgbClr val="2C3E50"/>
                </a:solidFill>
                <a:latin typeface="Calibri"/>
              </a:rPr>
              <a:t>▸  AI-driven waste classification using image recognition (Google Gemini 2.5 Flash)</a:t>
            </a:r>
          </a:p>
          <a:p>
            <a:pPr algn="l"/>
            <a:r>
              <a:rPr sz="1300" b="0">
                <a:solidFill>
                  <a:srgbClr val="2C3E50"/>
                </a:solidFill>
                <a:latin typeface="Calibri"/>
              </a:rPr>
              <a:t>▸  IoT-enabled smart bins with ESP32 + HC-SR04 sensors for real-time fill-level monitoring</a:t>
            </a:r>
          </a:p>
          <a:p>
            <a:pPr algn="l"/>
            <a:r>
              <a:rPr sz="1300" b="0">
                <a:solidFill>
                  <a:srgbClr val="2C3E50"/>
                </a:solidFill>
                <a:latin typeface="Calibri"/>
              </a:rPr>
              <a:t>▸  Interactive maps with GPS-based collection point management</a:t>
            </a:r>
          </a:p>
          <a:p>
            <a:pPr algn="l"/>
            <a:r>
              <a:rPr sz="1300" b="0">
                <a:solidFill>
                  <a:srgbClr val="2C3E50"/>
                </a:solidFill>
                <a:latin typeface="Calibri"/>
              </a:rPr>
              <a:t>▸  Multi-role platform (Users, Collectors, Admins) with JWT-based role access</a:t>
            </a:r>
          </a:p>
          <a:p>
            <a:pPr algn="l"/>
            <a:r>
              <a:rPr sz="1300" b="0">
                <a:solidFill>
                  <a:srgbClr val="2C3E50"/>
                </a:solidFill>
                <a:latin typeface="Calibri"/>
              </a:rPr>
              <a:t>▸  Gamification through leaderboards and reward points to drive engagement</a:t>
            </a:r>
          </a:p>
          <a:p>
            <a:pPr algn="l"/>
            <a:r>
              <a:rPr sz="1300" b="0">
                <a:solidFill>
                  <a:srgbClr val="2C3E50"/>
                </a:solidFill>
                <a:latin typeface="Calibri"/>
              </a:rPr>
              <a:t>▸  Real-time analytics dashboards and predictive waste generation forecasting</a:t>
            </a:r>
          </a:p>
          <a:p>
            <a:pPr algn="l"/>
            <a:r>
              <a:rPr sz="1300" b="0">
                <a:solidFill>
                  <a:srgbClr val="2C3E50"/>
                </a:solidFill>
                <a:latin typeface="Calibri"/>
              </a:rPr>
              <a:t>▸  TSP + 2-opt route optimization with traffic-aware planning</a:t>
            </a:r>
          </a:p>
          <a:p>
            <a:pPr algn="l"/>
            <a:r>
              <a:rPr sz="1300" b="0">
                <a:solidFill>
                  <a:srgbClr val="2C3E50"/>
                </a:solidFill>
                <a:latin typeface="Calibri"/>
              </a:rPr>
              <a:t>▸  Cloud-native deployment on Vercel + Render + Neon for scalability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Background — Literature Survey</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34440"/>
            <a:ext cx="10789920" cy="411480"/>
          </a:xfrm>
          <a:prstGeom prst="rect">
            <a:avLst/>
          </a:prstGeom>
          <a:noFill/>
        </p:spPr>
        <p:txBody>
          <a:bodyPr wrap="square"/>
          <a:lstStyle/>
          <a:p>
            <a:pPr algn="l"/>
            <a:r>
              <a:rPr sz="1500" b="1" i="0">
                <a:solidFill>
                  <a:srgbClr val="2C3E50"/>
                </a:solidFill>
                <a:latin typeface="Calibri"/>
              </a:rPr>
              <a:t>Existing Systems &amp; Research</a:t>
            </a:r>
          </a:p>
        </p:txBody>
      </p:sp>
      <p:sp>
        <p:nvSpPr>
          <p:cNvPr id="7" name="TextBox 6"/>
          <p:cNvSpPr txBox="1"/>
          <p:nvPr/>
        </p:nvSpPr>
        <p:spPr>
          <a:xfrm>
            <a:off x="731520" y="1645920"/>
            <a:ext cx="10789920" cy="411480"/>
          </a:xfrm>
          <a:prstGeom prst="rect">
            <a:avLst/>
          </a:prstGeom>
          <a:noFill/>
        </p:spPr>
        <p:txBody>
          <a:bodyPr wrap="square"/>
          <a:lstStyle/>
          <a:p>
            <a:pPr algn="l"/>
            <a:r>
              <a:rPr sz="1200" b="0" i="0">
                <a:solidFill>
                  <a:srgbClr val="2C3E50"/>
                </a:solidFill>
                <a:latin typeface="Calibri"/>
              </a:rPr>
              <a:t>A comprehensive review of existing waste management systems and research literature was conducted to identify gaps and opportunities:</a:t>
            </a:r>
          </a:p>
        </p:txBody>
      </p:sp>
      <p:sp>
        <p:nvSpPr>
          <p:cNvPr id="8" name="TextBox 7"/>
          <p:cNvSpPr txBox="1"/>
          <p:nvPr/>
        </p:nvSpPr>
        <p:spPr>
          <a:xfrm>
            <a:off x="731520" y="2103120"/>
            <a:ext cx="10789920" cy="274320"/>
          </a:xfrm>
          <a:prstGeom prst="rect">
            <a:avLst/>
          </a:prstGeom>
          <a:noFill/>
        </p:spPr>
        <p:txBody>
          <a:bodyPr wrap="square"/>
          <a:lstStyle/>
          <a:p>
            <a:pPr algn="l"/>
            <a:r>
              <a:rPr sz="1300" b="1" i="0">
                <a:solidFill>
                  <a:srgbClr val="0D9276"/>
                </a:solidFill>
                <a:latin typeface="Calibri"/>
              </a:rPr>
              <a:t>Municipal Manual Systems</a:t>
            </a:r>
          </a:p>
        </p:txBody>
      </p:sp>
      <p:sp>
        <p:nvSpPr>
          <p:cNvPr id="9" name="TextBox 8"/>
          <p:cNvSpPr txBox="1"/>
          <p:nvPr/>
        </p:nvSpPr>
        <p:spPr>
          <a:xfrm>
            <a:off x="731520" y="2377440"/>
            <a:ext cx="10789920" cy="457200"/>
          </a:xfrm>
          <a:prstGeom prst="rect">
            <a:avLst/>
          </a:prstGeom>
          <a:noFill/>
        </p:spPr>
        <p:txBody>
          <a:bodyPr wrap="square"/>
          <a:lstStyle/>
          <a:p>
            <a:pPr algn="l"/>
            <a:r>
              <a:rPr sz="1200" b="0" i="0">
                <a:solidFill>
                  <a:srgbClr val="2C3E50"/>
                </a:solidFill>
                <a:latin typeface="Calibri"/>
              </a:rPr>
              <a:t>Manual door-to-door collection with no segregation tracking; high labor cost, inconsistent scheduling, and zero data analytics.</a:t>
            </a:r>
          </a:p>
        </p:txBody>
      </p:sp>
      <p:sp>
        <p:nvSpPr>
          <p:cNvPr id="10" name="TextBox 9"/>
          <p:cNvSpPr txBox="1"/>
          <p:nvPr/>
        </p:nvSpPr>
        <p:spPr>
          <a:xfrm>
            <a:off x="731520" y="2926080"/>
            <a:ext cx="10789920" cy="274320"/>
          </a:xfrm>
          <a:prstGeom prst="rect">
            <a:avLst/>
          </a:prstGeom>
          <a:noFill/>
        </p:spPr>
        <p:txBody>
          <a:bodyPr wrap="square"/>
          <a:lstStyle/>
          <a:p>
            <a:pPr algn="l"/>
            <a:r>
              <a:rPr sz="1300" b="1" i="0">
                <a:solidFill>
                  <a:srgbClr val="0D9276"/>
                </a:solidFill>
                <a:latin typeface="Calibri"/>
              </a:rPr>
              <a:t>Smart Bin Solutions (BigBelly, Ecube Labs)</a:t>
            </a:r>
          </a:p>
        </p:txBody>
      </p:sp>
      <p:sp>
        <p:nvSpPr>
          <p:cNvPr id="11" name="TextBox 10"/>
          <p:cNvSpPr txBox="1"/>
          <p:nvPr/>
        </p:nvSpPr>
        <p:spPr>
          <a:xfrm>
            <a:off x="731520" y="3200400"/>
            <a:ext cx="10789920" cy="457200"/>
          </a:xfrm>
          <a:prstGeom prst="rect">
            <a:avLst/>
          </a:prstGeom>
          <a:noFill/>
        </p:spPr>
        <p:txBody>
          <a:bodyPr wrap="square"/>
          <a:lstStyle/>
          <a:p>
            <a:pPr algn="l"/>
            <a:r>
              <a:rPr sz="1200" b="0" i="0">
                <a:solidFill>
                  <a:srgbClr val="2C3E50"/>
                </a:solidFill>
                <a:latin typeface="Calibri"/>
              </a:rPr>
              <a:t>IoT-enabled compressed bins with fill-level sensors; expensive per-unit cost ($3,000–$5,000), no AI classification, focus only on overflow prevention.</a:t>
            </a:r>
          </a:p>
        </p:txBody>
      </p:sp>
      <p:sp>
        <p:nvSpPr>
          <p:cNvPr id="12" name="TextBox 11"/>
          <p:cNvSpPr txBox="1"/>
          <p:nvPr/>
        </p:nvSpPr>
        <p:spPr>
          <a:xfrm>
            <a:off x="731520" y="3749040"/>
            <a:ext cx="10789920" cy="274320"/>
          </a:xfrm>
          <a:prstGeom prst="rect">
            <a:avLst/>
          </a:prstGeom>
          <a:noFill/>
        </p:spPr>
        <p:txBody>
          <a:bodyPr wrap="square"/>
          <a:lstStyle/>
          <a:p>
            <a:pPr algn="l"/>
            <a:r>
              <a:rPr sz="1300" b="1" i="0">
                <a:solidFill>
                  <a:srgbClr val="0D9276"/>
                </a:solidFill>
                <a:latin typeface="Calibri"/>
              </a:rPr>
              <a:t>Waste Classification Apps (Oscar, TrashBot)</a:t>
            </a:r>
          </a:p>
        </p:txBody>
      </p:sp>
      <p:sp>
        <p:nvSpPr>
          <p:cNvPr id="13" name="TextBox 12"/>
          <p:cNvSpPr txBox="1"/>
          <p:nvPr/>
        </p:nvSpPr>
        <p:spPr>
          <a:xfrm>
            <a:off x="731520" y="4023360"/>
            <a:ext cx="10789920" cy="457200"/>
          </a:xfrm>
          <a:prstGeom prst="rect">
            <a:avLst/>
          </a:prstGeom>
          <a:noFill/>
        </p:spPr>
        <p:txBody>
          <a:bodyPr wrap="square"/>
          <a:lstStyle/>
          <a:p>
            <a:pPr algn="l"/>
            <a:r>
              <a:rPr sz="1200" b="0" i="0">
                <a:solidFill>
                  <a:srgbClr val="2C3E50"/>
                </a:solidFill>
                <a:latin typeface="Calibri"/>
              </a:rPr>
              <a:t>AI-based sorting at source using cameras; limited to classification only — no collection management, booking, or community engagement.</a:t>
            </a:r>
          </a:p>
        </p:txBody>
      </p:sp>
      <p:sp>
        <p:nvSpPr>
          <p:cNvPr id="14" name="TextBox 13"/>
          <p:cNvSpPr txBox="1"/>
          <p:nvPr/>
        </p:nvSpPr>
        <p:spPr>
          <a:xfrm>
            <a:off x="731520" y="4572000"/>
            <a:ext cx="10789920" cy="274320"/>
          </a:xfrm>
          <a:prstGeom prst="rect">
            <a:avLst/>
          </a:prstGeom>
          <a:noFill/>
        </p:spPr>
        <p:txBody>
          <a:bodyPr wrap="square"/>
          <a:lstStyle/>
          <a:p>
            <a:pPr algn="l"/>
            <a:r>
              <a:rPr sz="1300" b="1" i="0">
                <a:solidFill>
                  <a:srgbClr val="0D9276"/>
                </a:solidFill>
                <a:latin typeface="Calibri"/>
              </a:rPr>
              <a:t>Route Optimization Platforms (Rubicon, Routeware)</a:t>
            </a:r>
          </a:p>
        </p:txBody>
      </p:sp>
      <p:sp>
        <p:nvSpPr>
          <p:cNvPr id="15" name="TextBox 14"/>
          <p:cNvSpPr txBox="1"/>
          <p:nvPr/>
        </p:nvSpPr>
        <p:spPr>
          <a:xfrm>
            <a:off x="731520" y="4846320"/>
            <a:ext cx="10789920" cy="457200"/>
          </a:xfrm>
          <a:prstGeom prst="rect">
            <a:avLst/>
          </a:prstGeom>
          <a:noFill/>
        </p:spPr>
        <p:txBody>
          <a:bodyPr wrap="square"/>
          <a:lstStyle/>
          <a:p>
            <a:pPr algn="l"/>
            <a:r>
              <a:rPr sz="1200" b="0" i="0">
                <a:solidFill>
                  <a:srgbClr val="2C3E50"/>
                </a:solidFill>
                <a:latin typeface="Calibri"/>
              </a:rPr>
              <a:t>GPS-based fleet management and route planning; enterprise-only pricing, no citizen-facing features, no waste type intelligence.</a:t>
            </a:r>
          </a:p>
        </p:txBody>
      </p:sp>
      <p:sp>
        <p:nvSpPr>
          <p:cNvPr id="16" name="TextBox 15"/>
          <p:cNvSpPr txBox="1"/>
          <p:nvPr/>
        </p:nvSpPr>
        <p:spPr>
          <a:xfrm>
            <a:off x="731520" y="5394960"/>
            <a:ext cx="10789920" cy="274320"/>
          </a:xfrm>
          <a:prstGeom prst="rect">
            <a:avLst/>
          </a:prstGeom>
          <a:noFill/>
        </p:spPr>
        <p:txBody>
          <a:bodyPr wrap="square"/>
          <a:lstStyle/>
          <a:p>
            <a:pPr algn="l"/>
            <a:r>
              <a:rPr sz="1300" b="1" i="0">
                <a:solidFill>
                  <a:srgbClr val="0D9276"/>
                </a:solidFill>
                <a:latin typeface="Calibri"/>
              </a:rPr>
              <a:t>Research – IoT + ML Integration (IEEE/Springer)</a:t>
            </a:r>
          </a:p>
        </p:txBody>
      </p:sp>
      <p:sp>
        <p:nvSpPr>
          <p:cNvPr id="17" name="TextBox 16"/>
          <p:cNvSpPr txBox="1"/>
          <p:nvPr/>
        </p:nvSpPr>
        <p:spPr>
          <a:xfrm>
            <a:off x="731520" y="5669280"/>
            <a:ext cx="10789920" cy="457200"/>
          </a:xfrm>
          <a:prstGeom prst="rect">
            <a:avLst/>
          </a:prstGeom>
          <a:noFill/>
        </p:spPr>
        <p:txBody>
          <a:bodyPr wrap="square"/>
          <a:lstStyle/>
          <a:p>
            <a:pPr algn="l"/>
            <a:r>
              <a:rPr sz="1200" b="0" i="0">
                <a:solidFill>
                  <a:srgbClr val="2C3E50"/>
                </a:solidFill>
                <a:latin typeface="Calibri"/>
              </a:rPr>
              <a:t>Papers propose combining ultrasonic sensors with ML for smart bins, but lack full-stack implementations covering the entire waste lifecycle.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Background — Gap Analysis</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34440"/>
            <a:ext cx="10789920" cy="365760"/>
          </a:xfrm>
          <a:prstGeom prst="rect">
            <a:avLst/>
          </a:prstGeom>
          <a:noFill/>
        </p:spPr>
        <p:txBody>
          <a:bodyPr wrap="square"/>
          <a:lstStyle/>
          <a:p>
            <a:pPr algn="l"/>
            <a:r>
              <a:rPr sz="1500" b="1" i="0">
                <a:solidFill>
                  <a:srgbClr val="2C3E50"/>
                </a:solidFill>
                <a:latin typeface="Calibri"/>
              </a:rPr>
              <a:t>Why existing solutions fall short</a:t>
            </a:r>
          </a:p>
        </p:txBody>
      </p:sp>
      <p:sp>
        <p:nvSpPr>
          <p:cNvPr id="7" name="TextBox 6"/>
          <p:cNvSpPr txBox="1"/>
          <p:nvPr/>
        </p:nvSpPr>
        <p:spPr>
          <a:xfrm>
            <a:off x="731520" y="1600200"/>
            <a:ext cx="10789920" cy="594360"/>
          </a:xfrm>
          <a:prstGeom prst="rect">
            <a:avLst/>
          </a:prstGeom>
          <a:noFill/>
        </p:spPr>
        <p:txBody>
          <a:bodyPr wrap="square"/>
          <a:lstStyle/>
          <a:p>
            <a:pPr algn="l"/>
            <a:r>
              <a:rPr sz="1200" b="0" i="0">
                <a:solidFill>
                  <a:srgbClr val="2C3E50"/>
                </a:solidFill>
                <a:latin typeface="Calibri"/>
              </a:rPr>
              <a:t>Despite the availability of individual components like IoT sensors, AI classifiers, and route optimization tools, no existing solution provides an integrated, end-to-end platform that combines all these capabilities into a single, affordable, and community-driven system.</a:t>
            </a:r>
          </a:p>
        </p:txBody>
      </p:sp>
      <p:sp>
        <p:nvSpPr>
          <p:cNvPr id="8" name="TextBox 7"/>
          <p:cNvSpPr txBox="1"/>
          <p:nvPr/>
        </p:nvSpPr>
        <p:spPr>
          <a:xfrm>
            <a:off x="731520" y="2286000"/>
            <a:ext cx="10789920" cy="365760"/>
          </a:xfrm>
          <a:prstGeom prst="rect">
            <a:avLst/>
          </a:prstGeom>
          <a:noFill/>
        </p:spPr>
        <p:txBody>
          <a:bodyPr wrap="square"/>
          <a:lstStyle/>
          <a:p>
            <a:pPr algn="l"/>
            <a:r>
              <a:rPr sz="1400" b="1" i="0">
                <a:solidFill>
                  <a:srgbClr val="2C3E50"/>
                </a:solidFill>
                <a:latin typeface="Calibri"/>
              </a:rPr>
              <a:t>Key Gaps Identified:</a:t>
            </a:r>
          </a:p>
        </p:txBody>
      </p:sp>
      <p:sp>
        <p:nvSpPr>
          <p:cNvPr id="9" name="TextBox 8"/>
          <p:cNvSpPr txBox="1"/>
          <p:nvPr/>
        </p:nvSpPr>
        <p:spPr>
          <a:xfrm>
            <a:off x="731520" y="2697480"/>
            <a:ext cx="10789920" cy="2560320"/>
          </a:xfrm>
          <a:prstGeom prst="rect">
            <a:avLst/>
          </a:prstGeom>
          <a:noFill/>
        </p:spPr>
        <p:txBody>
          <a:bodyPr wrap="square"/>
          <a:lstStyle/>
          <a:p>
            <a:pPr algn="l"/>
            <a:r>
              <a:rPr sz="1300" b="0">
                <a:solidFill>
                  <a:srgbClr val="C0392B"/>
                </a:solidFill>
                <a:latin typeface="Calibri"/>
              </a:rPr>
              <a:t>✗  No unified platform combining AI classification + IoT monitoring + collection management</a:t>
            </a:r>
          </a:p>
          <a:p>
            <a:pPr algn="l"/>
            <a:r>
              <a:rPr sz="1300" b="0">
                <a:solidFill>
                  <a:srgbClr val="C0392B"/>
                </a:solidFill>
                <a:latin typeface="Calibri"/>
              </a:rPr>
              <a:t>✗  Existing smart bin solutions are prohibitively expensive for developing countries</a:t>
            </a:r>
          </a:p>
          <a:p>
            <a:pPr algn="l"/>
            <a:r>
              <a:rPr sz="1300" b="0">
                <a:solidFill>
                  <a:srgbClr val="C0392B"/>
                </a:solidFill>
                <a:latin typeface="Calibri"/>
              </a:rPr>
              <a:t>✗  No gamification or community engagement features in current commercial systems</a:t>
            </a:r>
          </a:p>
          <a:p>
            <a:pPr algn="l"/>
            <a:r>
              <a:rPr sz="1300" b="0">
                <a:solidFill>
                  <a:srgbClr val="C0392B"/>
                </a:solidFill>
                <a:latin typeface="Calibri"/>
              </a:rPr>
              <a:t>✗  Research prototypes lack production-ready full-stack implementations</a:t>
            </a:r>
          </a:p>
          <a:p>
            <a:pPr algn="l"/>
            <a:r>
              <a:rPr sz="1300" b="0">
                <a:solidFill>
                  <a:srgbClr val="C0392B"/>
                </a:solidFill>
                <a:latin typeface="Calibri"/>
              </a:rPr>
              <a:t>✗  No role-based multi-stakeholder support (citizen, collector, admin) in one platform</a:t>
            </a:r>
          </a:p>
          <a:p>
            <a:pPr algn="l"/>
            <a:r>
              <a:rPr sz="1300" b="0">
                <a:solidFill>
                  <a:srgbClr val="C0392B"/>
                </a:solidFill>
                <a:latin typeface="Calibri"/>
              </a:rPr>
              <a:t>✗  Limited real-time analytics and data-driven insights for municipal decision-making</a:t>
            </a:r>
          </a:p>
        </p:txBody>
      </p:sp>
      <p:sp>
        <p:nvSpPr>
          <p:cNvPr id="10" name="TextBox 9"/>
          <p:cNvSpPr txBox="1"/>
          <p:nvPr/>
        </p:nvSpPr>
        <p:spPr>
          <a:xfrm>
            <a:off x="731520" y="5349240"/>
            <a:ext cx="10789920" cy="731520"/>
          </a:xfrm>
          <a:prstGeom prst="rect">
            <a:avLst/>
          </a:prstGeom>
          <a:noFill/>
        </p:spPr>
        <p:txBody>
          <a:bodyPr wrap="square"/>
          <a:lstStyle/>
          <a:p>
            <a:pPr algn="l"/>
            <a:r>
              <a:rPr sz="1300" b="1" i="0">
                <a:solidFill>
                  <a:srgbClr val="0D9276"/>
                </a:solidFill>
                <a:latin typeface="Calibri"/>
              </a:rPr>
              <a:t>SmartWaste360 bridges these gaps by delivering an affordable, open-source, full-stack platform that unifies AI, IoT, and community engagement.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Problem Statement</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34440"/>
            <a:ext cx="10789920" cy="731520"/>
          </a:xfrm>
          <a:prstGeom prst="rect">
            <a:avLst/>
          </a:prstGeom>
          <a:noFill/>
        </p:spPr>
        <p:txBody>
          <a:bodyPr wrap="square"/>
          <a:lstStyle/>
          <a:p>
            <a:pPr algn="l"/>
            <a:r>
              <a:rPr sz="1300" b="0" i="0">
                <a:solidFill>
                  <a:srgbClr val="2C3E50"/>
                </a:solidFill>
                <a:latin typeface="Calibri"/>
              </a:rPr>
              <a:t>Urban areas across India generate over 62 million tonnes of municipal solid waste annually, yet only 20% is effectively processed and recycled. The remaining 80% ends up in open dumps and landfills, causing severe environmental pollution, public health hazards, and groundwater contamination. Key challenges include:</a:t>
            </a:r>
          </a:p>
        </p:txBody>
      </p:sp>
      <p:sp>
        <p:nvSpPr>
          <p:cNvPr id="7" name="TextBox 6"/>
          <p:cNvSpPr txBox="1"/>
          <p:nvPr/>
        </p:nvSpPr>
        <p:spPr>
          <a:xfrm>
            <a:off x="731520" y="2057400"/>
            <a:ext cx="10789920" cy="2286000"/>
          </a:xfrm>
          <a:prstGeom prst="rect">
            <a:avLst/>
          </a:prstGeom>
          <a:noFill/>
        </p:spPr>
        <p:txBody>
          <a:bodyPr wrap="square"/>
          <a:lstStyle/>
          <a:p>
            <a:pPr algn="l"/>
            <a:r>
              <a:rPr sz="1300" b="0">
                <a:solidFill>
                  <a:srgbClr val="C0392B"/>
                </a:solidFill>
                <a:latin typeface="Calibri"/>
              </a:rPr>
              <a:t>⚠  Lack of waste segregation at source — residents have no easy way to identify waste types</a:t>
            </a:r>
          </a:p>
          <a:p>
            <a:pPr algn="l"/>
            <a:r>
              <a:rPr sz="1300" b="0">
                <a:solidFill>
                  <a:srgbClr val="C0392B"/>
                </a:solidFill>
                <a:latin typeface="Calibri"/>
              </a:rPr>
              <a:t>⚠  Inefficient collection schedules — bins overflow, routes are unoptimized, fuel is wasted</a:t>
            </a:r>
          </a:p>
          <a:p>
            <a:pPr algn="l"/>
            <a:r>
              <a:rPr sz="1300" b="0">
                <a:solidFill>
                  <a:srgbClr val="C0392B"/>
                </a:solidFill>
                <a:latin typeface="Calibri"/>
              </a:rPr>
              <a:t>⚠  No real-time monitoring — municipalities lack visibility into bin fill levels and collection status</a:t>
            </a:r>
          </a:p>
          <a:p>
            <a:pPr algn="l"/>
            <a:r>
              <a:rPr sz="1300" b="0">
                <a:solidFill>
                  <a:srgbClr val="C0392B"/>
                </a:solidFill>
                <a:latin typeface="Calibri"/>
              </a:rPr>
              <a:t>⚠  Absence of citizen engagement — no incentives or feedback loops for proper waste disposal</a:t>
            </a:r>
          </a:p>
          <a:p>
            <a:pPr algn="l"/>
            <a:r>
              <a:rPr sz="1300" b="0">
                <a:solidFill>
                  <a:srgbClr val="C0392B"/>
                </a:solidFill>
                <a:latin typeface="Calibri"/>
              </a:rPr>
              <a:t>⚠  Data silos — waste data is fragmented across departments, preventing informed decision-making</a:t>
            </a:r>
          </a:p>
        </p:txBody>
      </p:sp>
      <p:sp>
        <p:nvSpPr>
          <p:cNvPr id="8" name="Rectangle 7"/>
          <p:cNvSpPr/>
          <p:nvPr/>
        </p:nvSpPr>
        <p:spPr>
          <a:xfrm>
            <a:off x="731520" y="4480560"/>
            <a:ext cx="10789920" cy="1645920"/>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572000"/>
            <a:ext cx="10424160" cy="1463040"/>
          </a:xfrm>
          <a:prstGeom prst="rect">
            <a:avLst/>
          </a:prstGeom>
          <a:noFill/>
        </p:spPr>
        <p:txBody>
          <a:bodyPr wrap="square"/>
          <a:lstStyle/>
          <a:p>
            <a:pPr algn="l"/>
            <a:r>
              <a:rPr sz="1300" b="1" i="1">
                <a:solidFill>
                  <a:srgbClr val="2C3E50"/>
                </a:solidFill>
                <a:latin typeface="Calibri"/>
              </a:rPr>
              <a:t>"How can we design and develop an integrated, AI-powered waste management platform that enables automated waste classification, real-time collection monitoring through IoT sensors, and community-driven engagement to significantly improve urban waste management efficiency?"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Motivation to Choose This Problem</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5212080" cy="347472"/>
          </a:xfrm>
          <a:prstGeom prst="rect">
            <a:avLst/>
          </a:prstGeom>
          <a:noFill/>
        </p:spPr>
        <p:txBody>
          <a:bodyPr wrap="square"/>
          <a:lstStyle/>
          <a:p>
            <a:pPr algn="l"/>
            <a:r>
              <a:rPr sz="1300" b="1" i="0">
                <a:solidFill>
                  <a:srgbClr val="0D9276"/>
                </a:solidFill>
                <a:latin typeface="Calibri"/>
              </a:rPr>
              <a:t>🌍  Environmental Impact</a:t>
            </a:r>
          </a:p>
        </p:txBody>
      </p:sp>
      <p:sp>
        <p:nvSpPr>
          <p:cNvPr id="7" name="TextBox 6"/>
          <p:cNvSpPr txBox="1"/>
          <p:nvPr/>
        </p:nvSpPr>
        <p:spPr>
          <a:xfrm>
            <a:off x="731520" y="1627632"/>
            <a:ext cx="5212080" cy="621792"/>
          </a:xfrm>
          <a:prstGeom prst="rect">
            <a:avLst/>
          </a:prstGeom>
          <a:noFill/>
        </p:spPr>
        <p:txBody>
          <a:bodyPr wrap="square"/>
          <a:lstStyle/>
          <a:p>
            <a:pPr algn="l"/>
            <a:r>
              <a:rPr sz="1200" b="0" i="0">
                <a:solidFill>
                  <a:srgbClr val="2C3E50"/>
                </a:solidFill>
                <a:latin typeface="Calibri"/>
              </a:rPr>
              <a:t>Improper waste disposal is a leading cause of soil and water pollution. Our platform directly contributes to better waste segregation and recycling.</a:t>
            </a:r>
          </a:p>
        </p:txBody>
      </p:sp>
      <p:sp>
        <p:nvSpPr>
          <p:cNvPr id="8" name="TextBox 7"/>
          <p:cNvSpPr txBox="1"/>
          <p:nvPr/>
        </p:nvSpPr>
        <p:spPr>
          <a:xfrm>
            <a:off x="731520" y="2377440"/>
            <a:ext cx="5212080" cy="347472"/>
          </a:xfrm>
          <a:prstGeom prst="rect">
            <a:avLst/>
          </a:prstGeom>
          <a:noFill/>
        </p:spPr>
        <p:txBody>
          <a:bodyPr wrap="square"/>
          <a:lstStyle/>
          <a:p>
            <a:pPr algn="l"/>
            <a:r>
              <a:rPr sz="1300" b="1" i="0">
                <a:solidFill>
                  <a:srgbClr val="0D9276"/>
                </a:solidFill>
                <a:latin typeface="Calibri"/>
              </a:rPr>
              <a:t>🏙️  Smart City Relevance</a:t>
            </a:r>
          </a:p>
        </p:txBody>
      </p:sp>
      <p:sp>
        <p:nvSpPr>
          <p:cNvPr id="9" name="TextBox 8"/>
          <p:cNvSpPr txBox="1"/>
          <p:nvPr/>
        </p:nvSpPr>
        <p:spPr>
          <a:xfrm>
            <a:off x="731520" y="2724912"/>
            <a:ext cx="5212080" cy="621792"/>
          </a:xfrm>
          <a:prstGeom prst="rect">
            <a:avLst/>
          </a:prstGeom>
          <a:noFill/>
        </p:spPr>
        <p:txBody>
          <a:bodyPr wrap="square"/>
          <a:lstStyle/>
          <a:p>
            <a:pPr algn="l"/>
            <a:r>
              <a:rPr sz="1200" b="0" i="0">
                <a:solidFill>
                  <a:srgbClr val="2C3E50"/>
                </a:solidFill>
                <a:latin typeface="Calibri"/>
              </a:rPr>
              <a:t>Aligns with India's Smart Cities Mission and Swachh Bharat Abhiyan initiatives, making it highly relevant for government adoption.</a:t>
            </a:r>
          </a:p>
        </p:txBody>
      </p:sp>
      <p:sp>
        <p:nvSpPr>
          <p:cNvPr id="10" name="TextBox 9"/>
          <p:cNvSpPr txBox="1"/>
          <p:nvPr/>
        </p:nvSpPr>
        <p:spPr>
          <a:xfrm>
            <a:off x="731520" y="3474720"/>
            <a:ext cx="5212080" cy="347472"/>
          </a:xfrm>
          <a:prstGeom prst="rect">
            <a:avLst/>
          </a:prstGeom>
          <a:noFill/>
        </p:spPr>
        <p:txBody>
          <a:bodyPr wrap="square"/>
          <a:lstStyle/>
          <a:p>
            <a:pPr algn="l"/>
            <a:r>
              <a:rPr sz="1300" b="1" i="0">
                <a:solidFill>
                  <a:srgbClr val="0D9276"/>
                </a:solidFill>
                <a:latin typeface="Calibri"/>
              </a:rPr>
              <a:t>🤖  AI &amp; IoT Convergence</a:t>
            </a:r>
          </a:p>
        </p:txBody>
      </p:sp>
      <p:sp>
        <p:nvSpPr>
          <p:cNvPr id="11" name="TextBox 10"/>
          <p:cNvSpPr txBox="1"/>
          <p:nvPr/>
        </p:nvSpPr>
        <p:spPr>
          <a:xfrm>
            <a:off x="731520" y="3822192"/>
            <a:ext cx="5212080" cy="621792"/>
          </a:xfrm>
          <a:prstGeom prst="rect">
            <a:avLst/>
          </a:prstGeom>
          <a:noFill/>
        </p:spPr>
        <p:txBody>
          <a:bodyPr wrap="square"/>
          <a:lstStyle/>
          <a:p>
            <a:pPr algn="l"/>
            <a:r>
              <a:rPr sz="1200" b="0" i="0">
                <a:solidFill>
                  <a:srgbClr val="2C3E50"/>
                </a:solidFill>
                <a:latin typeface="Calibri"/>
              </a:rPr>
              <a:t>Opportunity to apply cutting-edge AI (Gemini 2.5 Flash) and IoT (ESP32 + HC-SR04) technologies to solve a real-world problem at scale.</a:t>
            </a:r>
          </a:p>
        </p:txBody>
      </p:sp>
      <p:sp>
        <p:nvSpPr>
          <p:cNvPr id="12" name="TextBox 11"/>
          <p:cNvSpPr txBox="1"/>
          <p:nvPr/>
        </p:nvSpPr>
        <p:spPr>
          <a:xfrm>
            <a:off x="6309360" y="1280160"/>
            <a:ext cx="5212080" cy="347472"/>
          </a:xfrm>
          <a:prstGeom prst="rect">
            <a:avLst/>
          </a:prstGeom>
          <a:noFill/>
        </p:spPr>
        <p:txBody>
          <a:bodyPr wrap="square"/>
          <a:lstStyle/>
          <a:p>
            <a:pPr algn="l"/>
            <a:r>
              <a:rPr sz="1300" b="1" i="0">
                <a:solidFill>
                  <a:srgbClr val="0D9276"/>
                </a:solidFill>
                <a:latin typeface="Calibri"/>
              </a:rPr>
              <a:t>👥  Community Engagement</a:t>
            </a:r>
          </a:p>
        </p:txBody>
      </p:sp>
      <p:sp>
        <p:nvSpPr>
          <p:cNvPr id="13" name="TextBox 12"/>
          <p:cNvSpPr txBox="1"/>
          <p:nvPr/>
        </p:nvSpPr>
        <p:spPr>
          <a:xfrm>
            <a:off x="6309360" y="1627632"/>
            <a:ext cx="5212080" cy="621792"/>
          </a:xfrm>
          <a:prstGeom prst="rect">
            <a:avLst/>
          </a:prstGeom>
          <a:noFill/>
        </p:spPr>
        <p:txBody>
          <a:bodyPr wrap="square"/>
          <a:lstStyle/>
          <a:p>
            <a:pPr algn="l"/>
            <a:r>
              <a:rPr sz="1200" b="0" i="0">
                <a:solidFill>
                  <a:srgbClr val="2C3E50"/>
                </a:solidFill>
                <a:latin typeface="Calibri"/>
              </a:rPr>
              <a:t>Gamification and leaderboards transform waste management from a chore into a community-driven activity, increasing participation.</a:t>
            </a:r>
          </a:p>
        </p:txBody>
      </p:sp>
      <p:sp>
        <p:nvSpPr>
          <p:cNvPr id="14" name="TextBox 13"/>
          <p:cNvSpPr txBox="1"/>
          <p:nvPr/>
        </p:nvSpPr>
        <p:spPr>
          <a:xfrm>
            <a:off x="6309360" y="2377440"/>
            <a:ext cx="5212080" cy="347472"/>
          </a:xfrm>
          <a:prstGeom prst="rect">
            <a:avLst/>
          </a:prstGeom>
          <a:noFill/>
        </p:spPr>
        <p:txBody>
          <a:bodyPr wrap="square"/>
          <a:lstStyle/>
          <a:p>
            <a:pPr algn="l"/>
            <a:r>
              <a:rPr sz="1300" b="1" i="0">
                <a:solidFill>
                  <a:srgbClr val="0D9276"/>
                </a:solidFill>
                <a:latin typeface="Calibri"/>
              </a:rPr>
              <a:t>📊  Data-Driven Governance</a:t>
            </a:r>
          </a:p>
        </p:txBody>
      </p:sp>
      <p:sp>
        <p:nvSpPr>
          <p:cNvPr id="15" name="TextBox 14"/>
          <p:cNvSpPr txBox="1"/>
          <p:nvPr/>
        </p:nvSpPr>
        <p:spPr>
          <a:xfrm>
            <a:off x="6309360" y="2724912"/>
            <a:ext cx="5212080" cy="621792"/>
          </a:xfrm>
          <a:prstGeom prst="rect">
            <a:avLst/>
          </a:prstGeom>
          <a:noFill/>
        </p:spPr>
        <p:txBody>
          <a:bodyPr wrap="square"/>
          <a:lstStyle/>
          <a:p>
            <a:pPr algn="l"/>
            <a:r>
              <a:rPr sz="1200" b="0" i="0">
                <a:solidFill>
                  <a:srgbClr val="2C3E50"/>
                </a:solidFill>
                <a:latin typeface="Calibri"/>
              </a:rPr>
              <a:t>Real-time analytics and predictive forecasting empower municipal bodies to make informed decisions about resource allocation.</a:t>
            </a:r>
          </a:p>
        </p:txBody>
      </p:sp>
      <p:sp>
        <p:nvSpPr>
          <p:cNvPr id="16" name="TextBox 15"/>
          <p:cNvSpPr txBox="1"/>
          <p:nvPr/>
        </p:nvSpPr>
        <p:spPr>
          <a:xfrm>
            <a:off x="6309360" y="3474720"/>
            <a:ext cx="5212080" cy="347472"/>
          </a:xfrm>
          <a:prstGeom prst="rect">
            <a:avLst/>
          </a:prstGeom>
          <a:noFill/>
        </p:spPr>
        <p:txBody>
          <a:bodyPr wrap="square"/>
          <a:lstStyle/>
          <a:p>
            <a:pPr algn="l"/>
            <a:r>
              <a:rPr sz="1300" b="1" i="0">
                <a:solidFill>
                  <a:srgbClr val="0D9276"/>
                </a:solidFill>
                <a:latin typeface="Calibri"/>
              </a:rPr>
              <a:t>💡  Full-Stack Learning</a:t>
            </a:r>
          </a:p>
        </p:txBody>
      </p:sp>
      <p:sp>
        <p:nvSpPr>
          <p:cNvPr id="17" name="TextBox 16"/>
          <p:cNvSpPr txBox="1"/>
          <p:nvPr/>
        </p:nvSpPr>
        <p:spPr>
          <a:xfrm>
            <a:off x="6309360" y="3822192"/>
            <a:ext cx="5212080" cy="621792"/>
          </a:xfrm>
          <a:prstGeom prst="rect">
            <a:avLst/>
          </a:prstGeom>
          <a:noFill/>
        </p:spPr>
        <p:txBody>
          <a:bodyPr wrap="square"/>
          <a:lstStyle/>
          <a:p>
            <a:pPr algn="l"/>
            <a:r>
              <a:rPr sz="1200" b="0" i="0">
                <a:solidFill>
                  <a:srgbClr val="2C3E50"/>
                </a:solidFill>
                <a:latin typeface="Calibri"/>
              </a:rPr>
              <a:t>End-to-end exposure to modern web dev, cloud deployment, AI/ML integration, and IoT — all in one production-ready project.</a:t>
            </a:r>
          </a:p>
        </p:txBody>
      </p:sp>
      <p:sp>
        <p:nvSpPr>
          <p:cNvPr id="18" name="Rectangle 17"/>
          <p:cNvSpPr/>
          <p:nvPr/>
        </p:nvSpPr>
        <p:spPr>
          <a:xfrm>
            <a:off x="6035040" y="1280160"/>
            <a:ext cx="36576" cy="329184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System Architecture</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10789920" cy="749808"/>
          </a:xfrm>
          <a:prstGeom prst="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325880"/>
            <a:ext cx="2194560" cy="329184"/>
          </a:xfrm>
          <a:prstGeom prst="rect">
            <a:avLst/>
          </a:prstGeom>
          <a:noFill/>
        </p:spPr>
        <p:txBody>
          <a:bodyPr wrap="square"/>
          <a:lstStyle/>
          <a:p>
            <a:pPr algn="l"/>
            <a:r>
              <a:rPr sz="1300" b="1" i="0">
                <a:solidFill>
                  <a:srgbClr val="0D9276"/>
                </a:solidFill>
                <a:latin typeface="Calibri"/>
              </a:rPr>
              <a:t>🖥  Frontend</a:t>
            </a:r>
          </a:p>
        </p:txBody>
      </p:sp>
      <p:sp>
        <p:nvSpPr>
          <p:cNvPr id="8" name="TextBox 7"/>
          <p:cNvSpPr txBox="1"/>
          <p:nvPr/>
        </p:nvSpPr>
        <p:spPr>
          <a:xfrm>
            <a:off x="3108960" y="1325880"/>
            <a:ext cx="8229600" cy="621792"/>
          </a:xfrm>
          <a:prstGeom prst="rect">
            <a:avLst/>
          </a:prstGeom>
          <a:noFill/>
        </p:spPr>
        <p:txBody>
          <a:bodyPr wrap="square"/>
          <a:lstStyle/>
          <a:p>
            <a:pPr algn="l"/>
            <a:r>
              <a:rPr sz="1200" b="0" i="0">
                <a:solidFill>
                  <a:srgbClr val="2C3E50"/>
                </a:solidFill>
                <a:latin typeface="Calibri"/>
              </a:rPr>
              <a:t>React 18 SPA → 20 page components, Tailwind CSS, Leaflet.js maps, Recharts charts, JWT auth</a:t>
            </a:r>
          </a:p>
        </p:txBody>
      </p:sp>
      <p:sp>
        <p:nvSpPr>
          <p:cNvPr id="9" name="Rectangle 8"/>
          <p:cNvSpPr/>
          <p:nvPr/>
        </p:nvSpPr>
        <p:spPr>
          <a:xfrm>
            <a:off x="3017520" y="1554480"/>
            <a:ext cx="73152" cy="20116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2103120"/>
            <a:ext cx="10789920" cy="749808"/>
          </a:xfrm>
          <a:prstGeom prst="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148840"/>
            <a:ext cx="2194560" cy="329184"/>
          </a:xfrm>
          <a:prstGeom prst="rect">
            <a:avLst/>
          </a:prstGeom>
          <a:noFill/>
        </p:spPr>
        <p:txBody>
          <a:bodyPr wrap="square"/>
          <a:lstStyle/>
          <a:p>
            <a:pPr algn="l"/>
            <a:r>
              <a:rPr sz="1300" b="1" i="0">
                <a:solidFill>
                  <a:srgbClr val="0D9276"/>
                </a:solidFill>
                <a:latin typeface="Calibri"/>
              </a:rPr>
              <a:t>⚙️  Backend</a:t>
            </a:r>
          </a:p>
        </p:txBody>
      </p:sp>
      <p:sp>
        <p:nvSpPr>
          <p:cNvPr id="12" name="TextBox 11"/>
          <p:cNvSpPr txBox="1"/>
          <p:nvPr/>
        </p:nvSpPr>
        <p:spPr>
          <a:xfrm>
            <a:off x="3108960" y="2148840"/>
            <a:ext cx="8229600" cy="621792"/>
          </a:xfrm>
          <a:prstGeom prst="rect">
            <a:avLst/>
          </a:prstGeom>
          <a:noFill/>
        </p:spPr>
        <p:txBody>
          <a:bodyPr wrap="square"/>
          <a:lstStyle/>
          <a:p>
            <a:pPr algn="l"/>
            <a:r>
              <a:rPr sz="1200" b="0" i="0">
                <a:solidFill>
                  <a:srgbClr val="2C3E50"/>
                </a:solidFill>
                <a:latin typeface="Calibri"/>
              </a:rPr>
              <a:t>Flask REST API v6.0.0 → 14 Blueprints, 6 Service modules, 12 Data models</a:t>
            </a:r>
          </a:p>
        </p:txBody>
      </p:sp>
      <p:sp>
        <p:nvSpPr>
          <p:cNvPr id="13" name="Rectangle 12"/>
          <p:cNvSpPr/>
          <p:nvPr/>
        </p:nvSpPr>
        <p:spPr>
          <a:xfrm>
            <a:off x="3017520" y="2377440"/>
            <a:ext cx="73152" cy="20116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2926080"/>
            <a:ext cx="10789920" cy="749808"/>
          </a:xfrm>
          <a:prstGeom prst="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971800"/>
            <a:ext cx="2194560" cy="329184"/>
          </a:xfrm>
          <a:prstGeom prst="rect">
            <a:avLst/>
          </a:prstGeom>
          <a:noFill/>
        </p:spPr>
        <p:txBody>
          <a:bodyPr wrap="square"/>
          <a:lstStyle/>
          <a:p>
            <a:pPr algn="l"/>
            <a:r>
              <a:rPr sz="1300" b="1" i="0">
                <a:solidFill>
                  <a:srgbClr val="0D9276"/>
                </a:solidFill>
                <a:latin typeface="Calibri"/>
              </a:rPr>
              <a:t>🗄  Database</a:t>
            </a:r>
          </a:p>
        </p:txBody>
      </p:sp>
      <p:sp>
        <p:nvSpPr>
          <p:cNvPr id="16" name="TextBox 15"/>
          <p:cNvSpPr txBox="1"/>
          <p:nvPr/>
        </p:nvSpPr>
        <p:spPr>
          <a:xfrm>
            <a:off x="3108960" y="2971800"/>
            <a:ext cx="8229600" cy="621792"/>
          </a:xfrm>
          <a:prstGeom prst="rect">
            <a:avLst/>
          </a:prstGeom>
          <a:noFill/>
        </p:spPr>
        <p:txBody>
          <a:bodyPr wrap="square"/>
          <a:lstStyle/>
          <a:p>
            <a:pPr algn="l"/>
            <a:r>
              <a:rPr sz="1200" b="0" i="0">
                <a:solidFill>
                  <a:srgbClr val="2C3E50"/>
                </a:solidFill>
                <a:latin typeface="Calibri"/>
              </a:rPr>
              <a:t>PostgreSQL (Neon) → 10+ tables, triggers, views, indexes — serverless auto-scaling</a:t>
            </a:r>
          </a:p>
        </p:txBody>
      </p:sp>
      <p:sp>
        <p:nvSpPr>
          <p:cNvPr id="17" name="Rectangle 16"/>
          <p:cNvSpPr/>
          <p:nvPr/>
        </p:nvSpPr>
        <p:spPr>
          <a:xfrm>
            <a:off x="3017520" y="3200400"/>
            <a:ext cx="73152" cy="20116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3749040"/>
            <a:ext cx="10789920" cy="749808"/>
          </a:xfrm>
          <a:prstGeom prst="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3794760"/>
            <a:ext cx="2194560" cy="329184"/>
          </a:xfrm>
          <a:prstGeom prst="rect">
            <a:avLst/>
          </a:prstGeom>
          <a:noFill/>
        </p:spPr>
        <p:txBody>
          <a:bodyPr wrap="square"/>
          <a:lstStyle/>
          <a:p>
            <a:pPr algn="l"/>
            <a:r>
              <a:rPr sz="1300" b="1" i="0">
                <a:solidFill>
                  <a:srgbClr val="0D9276"/>
                </a:solidFill>
                <a:latin typeface="Calibri"/>
              </a:rPr>
              <a:t>📡  IoT Layer</a:t>
            </a:r>
          </a:p>
        </p:txBody>
      </p:sp>
      <p:sp>
        <p:nvSpPr>
          <p:cNvPr id="20" name="TextBox 19"/>
          <p:cNvSpPr txBox="1"/>
          <p:nvPr/>
        </p:nvSpPr>
        <p:spPr>
          <a:xfrm>
            <a:off x="3108960" y="3794760"/>
            <a:ext cx="8229600" cy="621792"/>
          </a:xfrm>
          <a:prstGeom prst="rect">
            <a:avLst/>
          </a:prstGeom>
          <a:noFill/>
        </p:spPr>
        <p:txBody>
          <a:bodyPr wrap="square"/>
          <a:lstStyle/>
          <a:p>
            <a:pPr algn="l"/>
            <a:r>
              <a:rPr sz="1200" b="0" i="0">
                <a:solidFill>
                  <a:srgbClr val="2C3E50"/>
                </a:solidFill>
                <a:latin typeface="Calibri"/>
              </a:rPr>
              <a:t>ESP32 + HC-SR04 → WiFi → POST /api/iot/bin-level → PostgreSQL → Live Dashboard (5s polling)</a:t>
            </a:r>
          </a:p>
        </p:txBody>
      </p:sp>
      <p:sp>
        <p:nvSpPr>
          <p:cNvPr id="21" name="Rectangle 20"/>
          <p:cNvSpPr/>
          <p:nvPr/>
        </p:nvSpPr>
        <p:spPr>
          <a:xfrm>
            <a:off x="3017520" y="4023360"/>
            <a:ext cx="73152" cy="20116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1520" y="4572000"/>
            <a:ext cx="10789920" cy="749808"/>
          </a:xfrm>
          <a:prstGeom prst="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617720"/>
            <a:ext cx="2194560" cy="329184"/>
          </a:xfrm>
          <a:prstGeom prst="rect">
            <a:avLst/>
          </a:prstGeom>
          <a:noFill/>
        </p:spPr>
        <p:txBody>
          <a:bodyPr wrap="square"/>
          <a:lstStyle/>
          <a:p>
            <a:pPr algn="l"/>
            <a:r>
              <a:rPr sz="1300" b="1" i="0">
                <a:solidFill>
                  <a:srgbClr val="0D9276"/>
                </a:solidFill>
                <a:latin typeface="Calibri"/>
              </a:rPr>
              <a:t>🤖  AI Layer</a:t>
            </a:r>
          </a:p>
        </p:txBody>
      </p:sp>
      <p:sp>
        <p:nvSpPr>
          <p:cNvPr id="24" name="TextBox 23"/>
          <p:cNvSpPr txBox="1"/>
          <p:nvPr/>
        </p:nvSpPr>
        <p:spPr>
          <a:xfrm>
            <a:off x="3108960" y="4617720"/>
            <a:ext cx="8229600" cy="621792"/>
          </a:xfrm>
          <a:prstGeom prst="rect">
            <a:avLst/>
          </a:prstGeom>
          <a:noFill/>
        </p:spPr>
        <p:txBody>
          <a:bodyPr wrap="square"/>
          <a:lstStyle/>
          <a:p>
            <a:pPr algn="l"/>
            <a:r>
              <a:rPr sz="1200" b="0" i="0">
                <a:solidFill>
                  <a:srgbClr val="2C3E50"/>
                </a:solidFill>
                <a:latin typeface="Calibri"/>
              </a:rPr>
              <a:t>Google Gemini 2.5 Flash API for image-based waste classification with fallback mechanism</a:t>
            </a:r>
          </a:p>
        </p:txBody>
      </p:sp>
      <p:sp>
        <p:nvSpPr>
          <p:cNvPr id="25" name="Rectangle 24"/>
          <p:cNvSpPr/>
          <p:nvPr/>
        </p:nvSpPr>
        <p:spPr>
          <a:xfrm>
            <a:off x="3017520" y="4846320"/>
            <a:ext cx="73152" cy="20116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31520" y="5394960"/>
            <a:ext cx="10789920" cy="749808"/>
          </a:xfrm>
          <a:prstGeom prst="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440680"/>
            <a:ext cx="2194560" cy="329184"/>
          </a:xfrm>
          <a:prstGeom prst="rect">
            <a:avLst/>
          </a:prstGeom>
          <a:noFill/>
        </p:spPr>
        <p:txBody>
          <a:bodyPr wrap="square"/>
          <a:lstStyle/>
          <a:p>
            <a:pPr algn="l"/>
            <a:r>
              <a:rPr sz="1300" b="1" i="0">
                <a:solidFill>
                  <a:srgbClr val="0D9276"/>
                </a:solidFill>
                <a:latin typeface="Calibri"/>
              </a:rPr>
              <a:t>☁️  Deployment</a:t>
            </a:r>
          </a:p>
        </p:txBody>
      </p:sp>
      <p:sp>
        <p:nvSpPr>
          <p:cNvPr id="28" name="TextBox 27"/>
          <p:cNvSpPr txBox="1"/>
          <p:nvPr/>
        </p:nvSpPr>
        <p:spPr>
          <a:xfrm>
            <a:off x="3108960" y="5440680"/>
            <a:ext cx="8229600" cy="621792"/>
          </a:xfrm>
          <a:prstGeom prst="rect">
            <a:avLst/>
          </a:prstGeom>
          <a:noFill/>
        </p:spPr>
        <p:txBody>
          <a:bodyPr wrap="square"/>
          <a:lstStyle/>
          <a:p>
            <a:pPr algn="l"/>
            <a:r>
              <a:rPr sz="1200" b="0" i="0">
                <a:solidFill>
                  <a:srgbClr val="2C3E50"/>
                </a:solidFill>
                <a:latin typeface="Calibri"/>
              </a:rPr>
              <a:t>Vercel (frontend CDN) + Render (Gunicorn backend) + Neon (serverless DB)</a:t>
            </a:r>
          </a:p>
        </p:txBody>
      </p:sp>
      <p:sp>
        <p:nvSpPr>
          <p:cNvPr id="29" name="Rectangle 28"/>
          <p:cNvSpPr/>
          <p:nvPr/>
        </p:nvSpPr>
        <p:spPr>
          <a:xfrm>
            <a:off x="3017520" y="5669280"/>
            <a:ext cx="73152" cy="20116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System Functions &amp; Features</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5029200" cy="411480"/>
          </a:xfrm>
          <a:prstGeom prst="rect">
            <a:avLst/>
          </a:prstGeom>
          <a:noFill/>
        </p:spPr>
        <p:txBody>
          <a:bodyPr wrap="square"/>
          <a:lstStyle/>
          <a:p>
            <a:pPr algn="l"/>
            <a:r>
              <a:rPr sz="1500" b="1" i="0">
                <a:solidFill>
                  <a:srgbClr val="2C3E50"/>
                </a:solidFill>
                <a:latin typeface="Calibri"/>
              </a:rPr>
              <a:t>Core Features</a:t>
            </a:r>
          </a:p>
        </p:txBody>
      </p:sp>
      <p:sp>
        <p:nvSpPr>
          <p:cNvPr id="7" name="TextBox 6"/>
          <p:cNvSpPr txBox="1"/>
          <p:nvPr/>
        </p:nvSpPr>
        <p:spPr>
          <a:xfrm>
            <a:off x="731520" y="1828800"/>
            <a:ext cx="5120640" cy="4206240"/>
          </a:xfrm>
          <a:prstGeom prst="rect">
            <a:avLst/>
          </a:prstGeom>
          <a:noFill/>
        </p:spPr>
        <p:txBody>
          <a:bodyPr wrap="square"/>
          <a:lstStyle/>
          <a:p>
            <a:pPr algn="l"/>
            <a:r>
              <a:rPr sz="1300" b="0">
                <a:solidFill>
                  <a:srgbClr val="2C3E50"/>
                </a:solidFill>
                <a:latin typeface="Calibri"/>
              </a:rPr>
              <a:t>✦  AI Waste Classification via camera (Google Gemini 2.5 Flash)</a:t>
            </a:r>
          </a:p>
          <a:p>
            <a:pPr algn="l"/>
            <a:r>
              <a:rPr sz="1300" b="0">
                <a:solidFill>
                  <a:srgbClr val="2C3E50"/>
                </a:solidFill>
                <a:latin typeface="Calibri"/>
              </a:rPr>
              <a:t>✦  User Registration &amp; JWT Authentication (24hr token expiry)</a:t>
            </a:r>
          </a:p>
          <a:p>
            <a:pPr algn="l"/>
            <a:r>
              <a:rPr sz="1300" b="0">
                <a:solidFill>
                  <a:srgbClr val="2C3E50"/>
                </a:solidFill>
                <a:latin typeface="Calibri"/>
              </a:rPr>
              <a:t>✦  Waste Collection Booking System</a:t>
            </a:r>
          </a:p>
          <a:p>
            <a:pPr algn="l"/>
            <a:r>
              <a:rPr sz="1300" b="0">
                <a:solidFill>
                  <a:srgbClr val="2C3E50"/>
                </a:solidFill>
                <a:latin typeface="Calibri"/>
              </a:rPr>
              <a:t>✦  Colony-based Collection Point Management</a:t>
            </a:r>
          </a:p>
          <a:p>
            <a:pPr algn="l"/>
            <a:r>
              <a:rPr sz="1300" b="0">
                <a:solidFill>
                  <a:srgbClr val="2C3E50"/>
                </a:solidFill>
                <a:latin typeface="Calibri"/>
              </a:rPr>
              <a:t>✦  Gamified Leaderboard &amp; Configurable Reward Points</a:t>
            </a:r>
          </a:p>
          <a:p>
            <a:pPr algn="l"/>
            <a:r>
              <a:rPr sz="1300" b="0">
                <a:solidFill>
                  <a:srgbClr val="2C3E50"/>
                </a:solidFill>
                <a:latin typeface="Calibri"/>
              </a:rPr>
              <a:t>✦  Real-time Interactive Maps (Leaflet.js)</a:t>
            </a:r>
          </a:p>
          <a:p>
            <a:pPr algn="l"/>
            <a:r>
              <a:rPr sz="1300" b="0">
                <a:solidFill>
                  <a:srgbClr val="2C3E50"/>
                </a:solidFill>
                <a:latin typeface="Calibri"/>
              </a:rPr>
              <a:t>✦  7 Automated Notification Types</a:t>
            </a:r>
          </a:p>
        </p:txBody>
      </p:sp>
      <p:sp>
        <p:nvSpPr>
          <p:cNvPr id="8" name="TextBox 7"/>
          <p:cNvSpPr txBox="1"/>
          <p:nvPr/>
        </p:nvSpPr>
        <p:spPr>
          <a:xfrm>
            <a:off x="6400800" y="1371600"/>
            <a:ext cx="5029200" cy="411480"/>
          </a:xfrm>
          <a:prstGeom prst="rect">
            <a:avLst/>
          </a:prstGeom>
          <a:noFill/>
        </p:spPr>
        <p:txBody>
          <a:bodyPr wrap="square"/>
          <a:lstStyle/>
          <a:p>
            <a:pPr algn="l"/>
            <a:r>
              <a:rPr sz="1500" b="1" i="0">
                <a:solidFill>
                  <a:srgbClr val="2C3E50"/>
                </a:solidFill>
                <a:latin typeface="Calibri"/>
              </a:rPr>
              <a:t>Platform Capabilities</a:t>
            </a:r>
          </a:p>
        </p:txBody>
      </p:sp>
      <p:sp>
        <p:nvSpPr>
          <p:cNvPr id="9" name="TextBox 8"/>
          <p:cNvSpPr txBox="1"/>
          <p:nvPr/>
        </p:nvSpPr>
        <p:spPr>
          <a:xfrm>
            <a:off x="6400800" y="1828800"/>
            <a:ext cx="5303520" cy="4206240"/>
          </a:xfrm>
          <a:prstGeom prst="rect">
            <a:avLst/>
          </a:prstGeom>
          <a:noFill/>
        </p:spPr>
        <p:txBody>
          <a:bodyPr wrap="square"/>
          <a:lstStyle/>
          <a:p>
            <a:pPr algn="l"/>
            <a:r>
              <a:rPr sz="1300" b="0">
                <a:solidFill>
                  <a:srgbClr val="2C3E50"/>
                </a:solidFill>
                <a:latin typeface="Calibri"/>
              </a:rPr>
              <a:t>✦  Role-based Dashboards (User / Collector / Admin)</a:t>
            </a:r>
          </a:p>
          <a:p>
            <a:pPr algn="l"/>
            <a:r>
              <a:rPr sz="1300" b="0">
                <a:solidFill>
                  <a:srgbClr val="2C3E50"/>
                </a:solidFill>
                <a:latin typeface="Calibri"/>
              </a:rPr>
              <a:t>✦  TSP + 2-opt Route Optimization (Haversine distance)</a:t>
            </a:r>
          </a:p>
          <a:p>
            <a:pPr algn="l"/>
            <a:r>
              <a:rPr sz="1300" b="0">
                <a:solidFill>
                  <a:srgbClr val="2C3E50"/>
                </a:solidFill>
                <a:latin typeface="Calibri"/>
              </a:rPr>
              <a:t>✦  Traffic-aware Route Planning (time-of-day multipliers)</a:t>
            </a:r>
          </a:p>
          <a:p>
            <a:pPr algn="l"/>
            <a:r>
              <a:rPr sz="1300" b="0">
                <a:solidFill>
                  <a:srgbClr val="2C3E50"/>
                </a:solidFill>
                <a:latin typeface="Calibri"/>
              </a:rPr>
              <a:t>✦  Predictive Waste Generation Analytics (NumPy linear regression)</a:t>
            </a:r>
          </a:p>
          <a:p>
            <a:pPr algn="l"/>
            <a:r>
              <a:rPr sz="1300" b="0">
                <a:solidFill>
                  <a:srgbClr val="2C3E50"/>
                </a:solidFill>
                <a:latin typeface="Calibri"/>
              </a:rPr>
              <a:t>✦  IoT Smart Bin Monitoring (ESP32 + HC-SR04)</a:t>
            </a:r>
          </a:p>
          <a:p>
            <a:pPr algn="l"/>
            <a:r>
              <a:rPr sz="1300" b="0">
                <a:solidFill>
                  <a:srgbClr val="2C3E50"/>
                </a:solidFill>
                <a:latin typeface="Calibri"/>
              </a:rPr>
              <a:t>✦  Real-time Fill-level Dashboard with live polling</a:t>
            </a:r>
          </a:p>
          <a:p>
            <a:pPr algn="l"/>
            <a:r>
              <a:rPr sz="1300" b="0">
                <a:solidFill>
                  <a:srgbClr val="2C3E50"/>
                </a:solidFill>
                <a:latin typeface="Calibri"/>
              </a:rPr>
              <a:t>✦  Environmental Impact Forecasting (CO₂, trees, energy, water)</a:t>
            </a:r>
          </a:p>
        </p:txBody>
      </p:sp>
      <p:sp>
        <p:nvSpPr>
          <p:cNvPr id="10" name="Rectangle 9"/>
          <p:cNvSpPr/>
          <p:nvPr/>
        </p:nvSpPr>
        <p:spPr>
          <a:xfrm>
            <a:off x="6035040" y="1371600"/>
            <a:ext cx="36576" cy="420624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AI Classification Module</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34440"/>
            <a:ext cx="10789920" cy="365760"/>
          </a:xfrm>
          <a:prstGeom prst="rect">
            <a:avLst/>
          </a:prstGeom>
          <a:noFill/>
        </p:spPr>
        <p:txBody>
          <a:bodyPr wrap="square"/>
          <a:lstStyle/>
          <a:p>
            <a:pPr algn="l"/>
            <a:r>
              <a:rPr sz="1600" b="1" i="0">
                <a:solidFill>
                  <a:srgbClr val="0D9276"/>
                </a:solidFill>
                <a:latin typeface="Calibri"/>
              </a:rPr>
              <a:t>Powered by Google Gemini 2.5 Flash API</a:t>
            </a:r>
          </a:p>
        </p:txBody>
      </p:sp>
      <p:sp>
        <p:nvSpPr>
          <p:cNvPr id="7" name="Rectangle 6"/>
          <p:cNvSpPr/>
          <p:nvPr/>
        </p:nvSpPr>
        <p:spPr>
          <a:xfrm>
            <a:off x="731520" y="1691640"/>
            <a:ext cx="10789920" cy="54864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37360"/>
            <a:ext cx="10607040" cy="457200"/>
          </a:xfrm>
          <a:prstGeom prst="rect">
            <a:avLst/>
          </a:prstGeom>
          <a:noFill/>
        </p:spPr>
        <p:txBody>
          <a:bodyPr wrap="square"/>
          <a:lstStyle/>
          <a:p>
            <a:pPr algn="l"/>
            <a:r>
              <a:rPr sz="1300" b="1" i="0">
                <a:solidFill>
                  <a:srgbClr val="2C3E50"/>
                </a:solidFill>
                <a:latin typeface="Calibri"/>
              </a:rPr>
              <a:t>User uploads photo  →  Gemini analyzes image  →  Returns category + confidence + disposal recommendation</a:t>
            </a:r>
          </a:p>
        </p:txBody>
      </p:sp>
      <p:sp>
        <p:nvSpPr>
          <p:cNvPr id="9" name="Rectangle 8"/>
          <p:cNvSpPr/>
          <p:nvPr/>
        </p:nvSpPr>
        <p:spPr>
          <a:xfrm>
            <a:off x="731520" y="2377440"/>
            <a:ext cx="10789920" cy="594360"/>
          </a:xfrm>
          <a:prstGeom prst="rect">
            <a:avLst/>
          </a:prstGeom>
          <a:solidFill>
            <a:srgbClr val="F9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450592"/>
            <a:ext cx="2011680" cy="457200"/>
          </a:xfrm>
          <a:prstGeom prst="rect">
            <a:avLst/>
          </a:prstGeom>
          <a:noFill/>
        </p:spPr>
        <p:txBody>
          <a:bodyPr wrap="square"/>
          <a:lstStyle/>
          <a:p>
            <a:pPr algn="l"/>
            <a:r>
              <a:rPr sz="1300" b="1" i="0">
                <a:solidFill>
                  <a:srgbClr val="0D9276"/>
                </a:solidFill>
                <a:latin typeface="Calibri"/>
              </a:rPr>
              <a:t>Categories:</a:t>
            </a:r>
          </a:p>
        </p:txBody>
      </p:sp>
      <p:sp>
        <p:nvSpPr>
          <p:cNvPr id="11" name="TextBox 10"/>
          <p:cNvSpPr txBox="1"/>
          <p:nvPr/>
        </p:nvSpPr>
        <p:spPr>
          <a:xfrm>
            <a:off x="2926080" y="2450592"/>
            <a:ext cx="8412480" cy="457200"/>
          </a:xfrm>
          <a:prstGeom prst="rect">
            <a:avLst/>
          </a:prstGeom>
          <a:noFill/>
        </p:spPr>
        <p:txBody>
          <a:bodyPr wrap="square"/>
          <a:lstStyle/>
          <a:p>
            <a:pPr algn="l"/>
            <a:r>
              <a:rPr sz="1300" b="0" i="0" dirty="0">
                <a:solidFill>
                  <a:srgbClr val="2C3E50"/>
                </a:solidFill>
                <a:latin typeface="Calibri"/>
              </a:rPr>
              <a:t>plastic · paper · glass · metal · organic · cardboard</a:t>
            </a:r>
          </a:p>
        </p:txBody>
      </p:sp>
      <p:sp>
        <p:nvSpPr>
          <p:cNvPr id="12" name="Rectangle 11"/>
          <p:cNvSpPr/>
          <p:nvPr/>
        </p:nvSpPr>
        <p:spPr>
          <a:xfrm>
            <a:off x="731520" y="3035808"/>
            <a:ext cx="10789920" cy="594360"/>
          </a:xfrm>
          <a:prstGeom prst="rect">
            <a:avLst/>
          </a:prstGeom>
          <a:solidFill>
            <a:srgbClr val="F9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108960"/>
            <a:ext cx="2011680" cy="457200"/>
          </a:xfrm>
          <a:prstGeom prst="rect">
            <a:avLst/>
          </a:prstGeom>
          <a:noFill/>
        </p:spPr>
        <p:txBody>
          <a:bodyPr wrap="square"/>
          <a:lstStyle/>
          <a:p>
            <a:pPr algn="l"/>
            <a:r>
              <a:rPr sz="1300" b="1" i="0">
                <a:solidFill>
                  <a:srgbClr val="0D9276"/>
                </a:solidFill>
                <a:latin typeface="Calibri"/>
              </a:rPr>
              <a:t>Wet/Dry Logic:</a:t>
            </a:r>
          </a:p>
        </p:txBody>
      </p:sp>
      <p:sp>
        <p:nvSpPr>
          <p:cNvPr id="14" name="TextBox 13"/>
          <p:cNvSpPr txBox="1"/>
          <p:nvPr/>
        </p:nvSpPr>
        <p:spPr>
          <a:xfrm>
            <a:off x="2926080" y="3108960"/>
            <a:ext cx="8412480" cy="457200"/>
          </a:xfrm>
          <a:prstGeom prst="rect">
            <a:avLst/>
          </a:prstGeom>
          <a:noFill/>
        </p:spPr>
        <p:txBody>
          <a:bodyPr wrap="square"/>
          <a:lstStyle/>
          <a:p>
            <a:pPr algn="l"/>
            <a:r>
              <a:rPr sz="1300" b="0" i="0">
                <a:solidFill>
                  <a:srgbClr val="2C3E50"/>
                </a:solidFill>
                <a:latin typeface="Calibri"/>
              </a:rPr>
              <a:t>organic = wet waste; all others = dry waste</a:t>
            </a:r>
          </a:p>
        </p:txBody>
      </p:sp>
      <p:sp>
        <p:nvSpPr>
          <p:cNvPr id="15" name="Rectangle 14"/>
          <p:cNvSpPr/>
          <p:nvPr/>
        </p:nvSpPr>
        <p:spPr>
          <a:xfrm>
            <a:off x="731520" y="3694176"/>
            <a:ext cx="10789920" cy="594360"/>
          </a:xfrm>
          <a:prstGeom prst="rect">
            <a:avLst/>
          </a:prstGeom>
          <a:solidFill>
            <a:srgbClr val="F9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767328"/>
            <a:ext cx="2011680" cy="457200"/>
          </a:xfrm>
          <a:prstGeom prst="rect">
            <a:avLst/>
          </a:prstGeom>
          <a:noFill/>
        </p:spPr>
        <p:txBody>
          <a:bodyPr wrap="square"/>
          <a:lstStyle/>
          <a:p>
            <a:pPr algn="l"/>
            <a:r>
              <a:rPr sz="1300" b="1" i="0">
                <a:solidFill>
                  <a:srgbClr val="0D9276"/>
                </a:solidFill>
                <a:latin typeface="Calibri"/>
              </a:rPr>
              <a:t>Reward Points:</a:t>
            </a:r>
          </a:p>
        </p:txBody>
      </p:sp>
      <p:sp>
        <p:nvSpPr>
          <p:cNvPr id="17" name="TextBox 16"/>
          <p:cNvSpPr txBox="1"/>
          <p:nvPr/>
        </p:nvSpPr>
        <p:spPr>
          <a:xfrm>
            <a:off x="2926080" y="3767328"/>
            <a:ext cx="8412480" cy="457200"/>
          </a:xfrm>
          <a:prstGeom prst="rect">
            <a:avLst/>
          </a:prstGeom>
          <a:noFill/>
        </p:spPr>
        <p:txBody>
          <a:bodyPr wrap="square"/>
          <a:lstStyle/>
          <a:p>
            <a:pPr algn="l"/>
            <a:r>
              <a:rPr sz="1300" b="0" i="0">
                <a:solidFill>
                  <a:srgbClr val="2C3E50"/>
                </a:solidFill>
                <a:latin typeface="Calibri"/>
              </a:rPr>
              <a:t>Calculated per kg from database config table (points_config)</a:t>
            </a:r>
          </a:p>
        </p:txBody>
      </p:sp>
      <p:sp>
        <p:nvSpPr>
          <p:cNvPr id="18" name="Rectangle 17"/>
          <p:cNvSpPr/>
          <p:nvPr/>
        </p:nvSpPr>
        <p:spPr>
          <a:xfrm>
            <a:off x="731520" y="4352544"/>
            <a:ext cx="10789920" cy="594360"/>
          </a:xfrm>
          <a:prstGeom prst="rect">
            <a:avLst/>
          </a:prstGeom>
          <a:solidFill>
            <a:srgbClr val="F9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425696"/>
            <a:ext cx="2011680" cy="457200"/>
          </a:xfrm>
          <a:prstGeom prst="rect">
            <a:avLst/>
          </a:prstGeom>
          <a:noFill/>
        </p:spPr>
        <p:txBody>
          <a:bodyPr wrap="square"/>
          <a:lstStyle/>
          <a:p>
            <a:pPr algn="l"/>
            <a:r>
              <a:rPr sz="1300" b="1" i="0">
                <a:solidFill>
                  <a:srgbClr val="0D9276"/>
                </a:solidFill>
                <a:latin typeface="Calibri"/>
              </a:rPr>
              <a:t>CO₂ Savings:</a:t>
            </a:r>
          </a:p>
        </p:txBody>
      </p:sp>
      <p:sp>
        <p:nvSpPr>
          <p:cNvPr id="20" name="TextBox 19"/>
          <p:cNvSpPr txBox="1"/>
          <p:nvPr/>
        </p:nvSpPr>
        <p:spPr>
          <a:xfrm>
            <a:off x="2926080" y="4425696"/>
            <a:ext cx="8412480" cy="457200"/>
          </a:xfrm>
          <a:prstGeom prst="rect">
            <a:avLst/>
          </a:prstGeom>
          <a:noFill/>
        </p:spPr>
        <p:txBody>
          <a:bodyPr wrap="square"/>
          <a:lstStyle/>
          <a:p>
            <a:pPr algn="l"/>
            <a:r>
              <a:rPr sz="1300" b="0" i="0">
                <a:solidFill>
                  <a:srgbClr val="2C3E50"/>
                </a:solidFill>
                <a:latin typeface="Calibri"/>
              </a:rPr>
              <a:t>Calculated per material type based on recycling offset factors</a:t>
            </a:r>
          </a:p>
        </p:txBody>
      </p:sp>
      <p:sp>
        <p:nvSpPr>
          <p:cNvPr id="21" name="Rectangle 20"/>
          <p:cNvSpPr/>
          <p:nvPr/>
        </p:nvSpPr>
        <p:spPr>
          <a:xfrm>
            <a:off x="731520" y="5010912"/>
            <a:ext cx="10789920" cy="594360"/>
          </a:xfrm>
          <a:prstGeom prst="rect">
            <a:avLst/>
          </a:prstGeom>
          <a:solidFill>
            <a:srgbClr val="F9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5084064"/>
            <a:ext cx="2011680" cy="457200"/>
          </a:xfrm>
          <a:prstGeom prst="rect">
            <a:avLst/>
          </a:prstGeom>
          <a:noFill/>
        </p:spPr>
        <p:txBody>
          <a:bodyPr wrap="square"/>
          <a:lstStyle/>
          <a:p>
            <a:pPr algn="l"/>
            <a:r>
              <a:rPr sz="1300" b="1" i="0">
                <a:solidFill>
                  <a:srgbClr val="0D9276"/>
                </a:solidFill>
                <a:latin typeface="Calibri"/>
              </a:rPr>
              <a:t>Fallback:</a:t>
            </a:r>
          </a:p>
        </p:txBody>
      </p:sp>
      <p:sp>
        <p:nvSpPr>
          <p:cNvPr id="23" name="TextBox 22"/>
          <p:cNvSpPr txBox="1"/>
          <p:nvPr/>
        </p:nvSpPr>
        <p:spPr>
          <a:xfrm>
            <a:off x="2926080" y="5084064"/>
            <a:ext cx="8412480" cy="457200"/>
          </a:xfrm>
          <a:prstGeom prst="rect">
            <a:avLst/>
          </a:prstGeom>
          <a:noFill/>
        </p:spPr>
        <p:txBody>
          <a:bodyPr wrap="square"/>
          <a:lstStyle/>
          <a:p>
            <a:pPr algn="l"/>
            <a:r>
              <a:rPr sz="1300" b="0" i="0">
                <a:solidFill>
                  <a:srgbClr val="2C3E50"/>
                </a:solidFill>
                <a:latin typeface="Calibri"/>
              </a:rPr>
              <a:t>If Gemini API fails: defaults to plastic / dry classification</a:t>
            </a:r>
          </a:p>
        </p:txBody>
      </p:sp>
      <p:sp>
        <p:nvSpPr>
          <p:cNvPr id="24" name="Rectangle 23"/>
          <p:cNvSpPr/>
          <p:nvPr/>
        </p:nvSpPr>
        <p:spPr>
          <a:xfrm>
            <a:off x="731520" y="5669280"/>
            <a:ext cx="10789920" cy="594360"/>
          </a:xfrm>
          <a:prstGeom prst="rect">
            <a:avLst/>
          </a:prstGeom>
          <a:solidFill>
            <a:srgbClr val="F9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742432"/>
            <a:ext cx="2011680" cy="457200"/>
          </a:xfrm>
          <a:prstGeom prst="rect">
            <a:avLst/>
          </a:prstGeom>
          <a:noFill/>
        </p:spPr>
        <p:txBody>
          <a:bodyPr wrap="square"/>
          <a:lstStyle/>
          <a:p>
            <a:pPr algn="l"/>
            <a:r>
              <a:rPr sz="1300" b="1" i="0">
                <a:solidFill>
                  <a:srgbClr val="0D9276"/>
                </a:solidFill>
                <a:latin typeface="Calibri"/>
              </a:rPr>
              <a:t>Confidence:</a:t>
            </a:r>
          </a:p>
        </p:txBody>
      </p:sp>
      <p:sp>
        <p:nvSpPr>
          <p:cNvPr id="26" name="TextBox 25"/>
          <p:cNvSpPr txBox="1"/>
          <p:nvPr/>
        </p:nvSpPr>
        <p:spPr>
          <a:xfrm>
            <a:off x="2926080" y="5742432"/>
            <a:ext cx="8412480" cy="457200"/>
          </a:xfrm>
          <a:prstGeom prst="rect">
            <a:avLst/>
          </a:prstGeom>
          <a:noFill/>
        </p:spPr>
        <p:txBody>
          <a:bodyPr wrap="square"/>
          <a:lstStyle/>
          <a:p>
            <a:pPr algn="l"/>
            <a:r>
              <a:rPr sz="1300" b="0" i="0">
                <a:solidFill>
                  <a:srgbClr val="2C3E50"/>
                </a:solidFill>
                <a:latin typeface="Calibri"/>
              </a:rPr>
              <a:t>Gemini returns confidence score; shown to user with disposal tip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IoT Integration</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5029200" cy="365760"/>
          </a:xfrm>
          <a:prstGeom prst="rect">
            <a:avLst/>
          </a:prstGeom>
          <a:noFill/>
        </p:spPr>
        <p:txBody>
          <a:bodyPr wrap="square"/>
          <a:lstStyle/>
          <a:p>
            <a:pPr algn="l"/>
            <a:r>
              <a:rPr sz="1500" b="1" i="0">
                <a:solidFill>
                  <a:srgbClr val="2C3E50"/>
                </a:solidFill>
                <a:latin typeface="Calibri"/>
              </a:rPr>
              <a:t>🔧  Hardware</a:t>
            </a:r>
          </a:p>
        </p:txBody>
      </p:sp>
      <p:sp>
        <p:nvSpPr>
          <p:cNvPr id="7" name="TextBox 6"/>
          <p:cNvSpPr txBox="1"/>
          <p:nvPr/>
        </p:nvSpPr>
        <p:spPr>
          <a:xfrm>
            <a:off x="731520" y="1783080"/>
            <a:ext cx="5120640" cy="1097280"/>
          </a:xfrm>
          <a:prstGeom prst="rect">
            <a:avLst/>
          </a:prstGeom>
          <a:noFill/>
        </p:spPr>
        <p:txBody>
          <a:bodyPr wrap="square"/>
          <a:lstStyle/>
          <a:p>
            <a:pPr algn="l"/>
            <a:r>
              <a:rPr sz="1300" b="0">
                <a:solidFill>
                  <a:srgbClr val="2C3E50"/>
                </a:solidFill>
                <a:latin typeface="Calibri"/>
              </a:rPr>
              <a:t>ESP32 DevKit V1 + HC-SR04 Ultrasonic Sensor</a:t>
            </a:r>
          </a:p>
          <a:p>
            <a:pPr algn="l"/>
            <a:r>
              <a:rPr sz="1300" b="0">
                <a:solidFill>
                  <a:srgbClr val="2C3E50"/>
                </a:solidFill>
                <a:latin typeface="Calibri"/>
              </a:rPr>
              <a:t>Voltage divider (1kΩ + 2kΩ) for 5V → 3.3V ECHO pin</a:t>
            </a:r>
          </a:p>
          <a:p>
            <a:pPr algn="l"/>
            <a:r>
              <a:rPr sz="1300" b="0">
                <a:solidFill>
                  <a:srgbClr val="2C3E50"/>
                </a:solidFill>
                <a:latin typeface="Calibri"/>
              </a:rPr>
              <a:t>5V USB power supply</a:t>
            </a:r>
          </a:p>
        </p:txBody>
      </p:sp>
      <p:sp>
        <p:nvSpPr>
          <p:cNvPr id="8" name="TextBox 7"/>
          <p:cNvSpPr txBox="1"/>
          <p:nvPr/>
        </p:nvSpPr>
        <p:spPr>
          <a:xfrm>
            <a:off x="731520" y="2971800"/>
            <a:ext cx="5029200" cy="365760"/>
          </a:xfrm>
          <a:prstGeom prst="rect">
            <a:avLst/>
          </a:prstGeom>
          <a:noFill/>
        </p:spPr>
        <p:txBody>
          <a:bodyPr wrap="square"/>
          <a:lstStyle/>
          <a:p>
            <a:pPr algn="l"/>
            <a:r>
              <a:rPr sz="1500" b="1" i="0">
                <a:solidFill>
                  <a:srgbClr val="2C3E50"/>
                </a:solidFill>
                <a:latin typeface="Calibri"/>
              </a:rPr>
              <a:t>⚡  Firmware Features</a:t>
            </a:r>
          </a:p>
        </p:txBody>
      </p:sp>
      <p:sp>
        <p:nvSpPr>
          <p:cNvPr id="9" name="TextBox 8"/>
          <p:cNvSpPr txBox="1"/>
          <p:nvPr/>
        </p:nvSpPr>
        <p:spPr>
          <a:xfrm>
            <a:off x="731520" y="3383280"/>
            <a:ext cx="5120640" cy="2468880"/>
          </a:xfrm>
          <a:prstGeom prst="rect">
            <a:avLst/>
          </a:prstGeom>
          <a:noFill/>
        </p:spPr>
        <p:txBody>
          <a:bodyPr wrap="square"/>
          <a:lstStyle/>
          <a:p>
            <a:pPr algn="l"/>
            <a:r>
              <a:rPr sz="1300" b="0">
                <a:solidFill>
                  <a:srgbClr val="2C3E50"/>
                </a:solidFill>
                <a:latin typeface="Calibri"/>
              </a:rPr>
              <a:t>Median filtering: 5 samples per reading (sorted, median returned)</a:t>
            </a:r>
          </a:p>
          <a:p>
            <a:pPr algn="l"/>
            <a:r>
              <a:rPr sz="1300" b="0">
                <a:solidFill>
                  <a:srgbClr val="2C3E50"/>
                </a:solidFill>
                <a:latin typeface="Calibri"/>
              </a:rPr>
              <a:t>Smart-send: only transmits when fill level changes by &gt;2%</a:t>
            </a:r>
          </a:p>
          <a:p>
            <a:pPr algn="l"/>
            <a:r>
              <a:rPr sz="1300" b="0">
                <a:solidFill>
                  <a:srgbClr val="2C3E50"/>
                </a:solidFill>
                <a:latin typeface="Calibri"/>
              </a:rPr>
              <a:t>Auto WiFi reconnect with retry logic</a:t>
            </a:r>
          </a:p>
          <a:p>
            <a:pPr algn="l"/>
            <a:r>
              <a:rPr sz="1300" b="0">
                <a:solidFill>
                  <a:srgbClr val="2C3E50"/>
                </a:solidFill>
                <a:latin typeface="Calibri"/>
              </a:rPr>
              <a:t>HTTPS support for deployed backend</a:t>
            </a:r>
          </a:p>
          <a:p>
            <a:pPr algn="l"/>
            <a:r>
              <a:rPr sz="1300" b="0">
                <a:solidFill>
                  <a:srgbClr val="2C3E50"/>
                </a:solidFill>
                <a:latin typeface="Calibri"/>
              </a:rPr>
              <a:t>Error reporting after 5 consecutive sensor failures</a:t>
            </a:r>
          </a:p>
        </p:txBody>
      </p:sp>
      <p:sp>
        <p:nvSpPr>
          <p:cNvPr id="10" name="TextBox 9"/>
          <p:cNvSpPr txBox="1"/>
          <p:nvPr/>
        </p:nvSpPr>
        <p:spPr>
          <a:xfrm>
            <a:off x="6400800" y="1371600"/>
            <a:ext cx="5029200" cy="365760"/>
          </a:xfrm>
          <a:prstGeom prst="rect">
            <a:avLst/>
          </a:prstGeom>
          <a:noFill/>
        </p:spPr>
        <p:txBody>
          <a:bodyPr wrap="square"/>
          <a:lstStyle/>
          <a:p>
            <a:pPr algn="l"/>
            <a:r>
              <a:rPr sz="1500" b="1" i="0">
                <a:solidFill>
                  <a:srgbClr val="2C3E50"/>
                </a:solidFill>
                <a:latin typeface="Calibri"/>
              </a:rPr>
              <a:t>📡  Data Pipeline</a:t>
            </a:r>
          </a:p>
        </p:txBody>
      </p:sp>
      <p:sp>
        <p:nvSpPr>
          <p:cNvPr id="11" name="TextBox 10"/>
          <p:cNvSpPr txBox="1"/>
          <p:nvPr/>
        </p:nvSpPr>
        <p:spPr>
          <a:xfrm>
            <a:off x="6400800" y="1783080"/>
            <a:ext cx="5303520" cy="475488"/>
          </a:xfrm>
          <a:prstGeom prst="rect">
            <a:avLst/>
          </a:prstGeom>
          <a:noFill/>
        </p:spPr>
        <p:txBody>
          <a:bodyPr wrap="square"/>
          <a:lstStyle/>
          <a:p>
            <a:pPr algn="l"/>
            <a:r>
              <a:rPr sz="1300" b="0" i="0">
                <a:solidFill>
                  <a:srgbClr val="2C3E50"/>
                </a:solidFill>
                <a:latin typeface="Calibri"/>
              </a:rPr>
              <a:t>1.  HC-SR04 measures distance → fill level %</a:t>
            </a:r>
          </a:p>
        </p:txBody>
      </p:sp>
      <p:sp>
        <p:nvSpPr>
          <p:cNvPr id="12" name="TextBox 11"/>
          <p:cNvSpPr txBox="1"/>
          <p:nvPr/>
        </p:nvSpPr>
        <p:spPr>
          <a:xfrm>
            <a:off x="6400800" y="2295144"/>
            <a:ext cx="5303520" cy="475488"/>
          </a:xfrm>
          <a:prstGeom prst="rect">
            <a:avLst/>
          </a:prstGeom>
          <a:noFill/>
        </p:spPr>
        <p:txBody>
          <a:bodyPr wrap="square"/>
          <a:lstStyle/>
          <a:p>
            <a:pPr algn="l"/>
            <a:r>
              <a:rPr sz="1300" b="0" i="0">
                <a:solidFill>
                  <a:srgbClr val="2C3E50"/>
                </a:solidFill>
                <a:latin typeface="Calibri"/>
              </a:rPr>
              <a:t>2.  ESP32 filters + evaluates change threshold</a:t>
            </a:r>
          </a:p>
        </p:txBody>
      </p:sp>
      <p:sp>
        <p:nvSpPr>
          <p:cNvPr id="13" name="TextBox 12"/>
          <p:cNvSpPr txBox="1"/>
          <p:nvPr/>
        </p:nvSpPr>
        <p:spPr>
          <a:xfrm>
            <a:off x="6400800" y="2807208"/>
            <a:ext cx="5303520" cy="475488"/>
          </a:xfrm>
          <a:prstGeom prst="rect">
            <a:avLst/>
          </a:prstGeom>
          <a:noFill/>
        </p:spPr>
        <p:txBody>
          <a:bodyPr wrap="square"/>
          <a:lstStyle/>
          <a:p>
            <a:pPr algn="l"/>
            <a:r>
              <a:rPr sz="1300" b="0" i="0">
                <a:solidFill>
                  <a:srgbClr val="2C3E50"/>
                </a:solidFill>
                <a:latin typeface="Calibri"/>
              </a:rPr>
              <a:t>3.  WiFi → HTTPS POST /api/iot/bin-level</a:t>
            </a:r>
          </a:p>
        </p:txBody>
      </p:sp>
      <p:sp>
        <p:nvSpPr>
          <p:cNvPr id="14" name="TextBox 13"/>
          <p:cNvSpPr txBox="1"/>
          <p:nvPr/>
        </p:nvSpPr>
        <p:spPr>
          <a:xfrm>
            <a:off x="6400800" y="3319272"/>
            <a:ext cx="5303520" cy="475488"/>
          </a:xfrm>
          <a:prstGeom prst="rect">
            <a:avLst/>
          </a:prstGeom>
          <a:noFill/>
        </p:spPr>
        <p:txBody>
          <a:bodyPr wrap="square"/>
          <a:lstStyle/>
          <a:p>
            <a:pPr algn="l"/>
            <a:r>
              <a:rPr sz="1300" b="0" i="0">
                <a:solidFill>
                  <a:srgbClr val="2C3E50"/>
                </a:solidFill>
                <a:latin typeface="Calibri"/>
              </a:rPr>
              <a:t>4.  Flask validates X-IoT-API-Key header</a:t>
            </a:r>
          </a:p>
        </p:txBody>
      </p:sp>
      <p:sp>
        <p:nvSpPr>
          <p:cNvPr id="15" name="TextBox 14"/>
          <p:cNvSpPr txBox="1"/>
          <p:nvPr/>
        </p:nvSpPr>
        <p:spPr>
          <a:xfrm>
            <a:off x="6400800" y="3831336"/>
            <a:ext cx="5303520" cy="475488"/>
          </a:xfrm>
          <a:prstGeom prst="rect">
            <a:avLst/>
          </a:prstGeom>
          <a:noFill/>
        </p:spPr>
        <p:txBody>
          <a:bodyPr wrap="square"/>
          <a:lstStyle/>
          <a:p>
            <a:pPr algn="l"/>
            <a:r>
              <a:rPr sz="1300" b="0" i="0">
                <a:solidFill>
                  <a:srgbClr val="2C3E50"/>
                </a:solidFill>
                <a:latin typeface="Calibri"/>
              </a:rPr>
              <a:t>5.  Data stored in sensor_readings table</a:t>
            </a:r>
          </a:p>
        </p:txBody>
      </p:sp>
      <p:sp>
        <p:nvSpPr>
          <p:cNvPr id="16" name="TextBox 15"/>
          <p:cNvSpPr txBox="1"/>
          <p:nvPr/>
        </p:nvSpPr>
        <p:spPr>
          <a:xfrm>
            <a:off x="6400800" y="4343400"/>
            <a:ext cx="5303520" cy="475488"/>
          </a:xfrm>
          <a:prstGeom prst="rect">
            <a:avLst/>
          </a:prstGeom>
          <a:noFill/>
        </p:spPr>
        <p:txBody>
          <a:bodyPr wrap="square"/>
          <a:lstStyle/>
          <a:p>
            <a:pPr algn="l"/>
            <a:r>
              <a:rPr sz="1300" b="0" i="0">
                <a:solidFill>
                  <a:srgbClr val="2C3E50"/>
                </a:solidFill>
                <a:latin typeface="Calibri"/>
              </a:rPr>
              <a:t>6.  IoT Monitor Dashboard polls every 5 seconds</a:t>
            </a:r>
          </a:p>
        </p:txBody>
      </p:sp>
      <p:sp>
        <p:nvSpPr>
          <p:cNvPr id="17" name="TextBox 16"/>
          <p:cNvSpPr txBox="1"/>
          <p:nvPr/>
        </p:nvSpPr>
        <p:spPr>
          <a:xfrm>
            <a:off x="6400800" y="5120640"/>
            <a:ext cx="5303520" cy="365760"/>
          </a:xfrm>
          <a:prstGeom prst="rect">
            <a:avLst/>
          </a:prstGeom>
          <a:noFill/>
        </p:spPr>
        <p:txBody>
          <a:bodyPr wrap="square"/>
          <a:lstStyle/>
          <a:p>
            <a:pPr algn="l"/>
            <a:r>
              <a:rPr sz="1200" b="1" i="0">
                <a:solidFill>
                  <a:srgbClr val="16A085"/>
                </a:solidFill>
                <a:latin typeface="Calibri"/>
              </a:rPr>
              <a:t>🔐  API Security: X-IoT-API-Key header authentication</a:t>
            </a:r>
          </a:p>
        </p:txBody>
      </p:sp>
      <p:sp>
        <p:nvSpPr>
          <p:cNvPr id="18" name="Rectangle 17"/>
          <p:cNvSpPr/>
          <p:nvPr/>
        </p:nvSpPr>
        <p:spPr>
          <a:xfrm>
            <a:off x="6035040" y="1371600"/>
            <a:ext cx="36576" cy="420624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Route Optimization Algorithm</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10789920" cy="749808"/>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280160"/>
            <a:ext cx="548640" cy="749808"/>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444752"/>
            <a:ext cx="512064" cy="420624"/>
          </a:xfrm>
          <a:prstGeom prst="rect">
            <a:avLst/>
          </a:prstGeom>
          <a:noFill/>
        </p:spPr>
        <p:txBody>
          <a:bodyPr wrap="square"/>
          <a:lstStyle/>
          <a:p>
            <a:pPr algn="ctr"/>
            <a:r>
              <a:rPr sz="2000" b="1" i="0">
                <a:solidFill>
                  <a:srgbClr val="FFFFFF"/>
                </a:solidFill>
                <a:latin typeface="Calibri"/>
              </a:rPr>
              <a:t>1</a:t>
            </a:r>
          </a:p>
        </p:txBody>
      </p:sp>
      <p:sp>
        <p:nvSpPr>
          <p:cNvPr id="9" name="TextBox 8"/>
          <p:cNvSpPr txBox="1"/>
          <p:nvPr/>
        </p:nvSpPr>
        <p:spPr>
          <a:xfrm>
            <a:off x="1389888" y="1325880"/>
            <a:ext cx="2377440" cy="329184"/>
          </a:xfrm>
          <a:prstGeom prst="rect">
            <a:avLst/>
          </a:prstGeom>
          <a:noFill/>
        </p:spPr>
        <p:txBody>
          <a:bodyPr wrap="square"/>
          <a:lstStyle/>
          <a:p>
            <a:pPr algn="l"/>
            <a:r>
              <a:rPr sz="1300" b="1" i="0">
                <a:solidFill>
                  <a:srgbClr val="2C3E50"/>
                </a:solidFill>
                <a:latin typeface="Calibri"/>
              </a:rPr>
              <a:t>Haversine Formula</a:t>
            </a:r>
          </a:p>
        </p:txBody>
      </p:sp>
      <p:sp>
        <p:nvSpPr>
          <p:cNvPr id="10" name="TextBox 9"/>
          <p:cNvSpPr txBox="1"/>
          <p:nvPr/>
        </p:nvSpPr>
        <p:spPr>
          <a:xfrm>
            <a:off x="3840480" y="1325880"/>
            <a:ext cx="7498079" cy="621792"/>
          </a:xfrm>
          <a:prstGeom prst="rect">
            <a:avLst/>
          </a:prstGeom>
          <a:noFill/>
        </p:spPr>
        <p:txBody>
          <a:bodyPr wrap="square"/>
          <a:lstStyle/>
          <a:p>
            <a:pPr algn="l"/>
            <a:r>
              <a:rPr sz="1200" b="0" i="0">
                <a:solidFill>
                  <a:srgbClr val="2C3E50"/>
                </a:solidFill>
                <a:latin typeface="Calibri"/>
              </a:rPr>
              <a:t>Calculates great-circle distances between GPS coordinates (latitude/longitude pairs)</a:t>
            </a:r>
          </a:p>
        </p:txBody>
      </p:sp>
      <p:sp>
        <p:nvSpPr>
          <p:cNvPr id="11" name="Rectangle 10"/>
          <p:cNvSpPr/>
          <p:nvPr/>
        </p:nvSpPr>
        <p:spPr>
          <a:xfrm>
            <a:off x="731520" y="2103120"/>
            <a:ext cx="10789920" cy="749808"/>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2103120"/>
            <a:ext cx="548640" cy="749808"/>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2267712"/>
            <a:ext cx="512064" cy="420624"/>
          </a:xfrm>
          <a:prstGeom prst="rect">
            <a:avLst/>
          </a:prstGeom>
          <a:noFill/>
        </p:spPr>
        <p:txBody>
          <a:bodyPr wrap="square"/>
          <a:lstStyle/>
          <a:p>
            <a:pPr algn="ctr"/>
            <a:r>
              <a:rPr sz="2000" b="1" i="0">
                <a:solidFill>
                  <a:srgbClr val="FFFFFF"/>
                </a:solidFill>
                <a:latin typeface="Calibri"/>
              </a:rPr>
              <a:t>2</a:t>
            </a:r>
          </a:p>
        </p:txBody>
      </p:sp>
      <p:sp>
        <p:nvSpPr>
          <p:cNvPr id="14" name="TextBox 13"/>
          <p:cNvSpPr txBox="1"/>
          <p:nvPr/>
        </p:nvSpPr>
        <p:spPr>
          <a:xfrm>
            <a:off x="1389888" y="2148840"/>
            <a:ext cx="2377440" cy="329184"/>
          </a:xfrm>
          <a:prstGeom prst="rect">
            <a:avLst/>
          </a:prstGeom>
          <a:noFill/>
        </p:spPr>
        <p:txBody>
          <a:bodyPr wrap="square"/>
          <a:lstStyle/>
          <a:p>
            <a:pPr algn="l"/>
            <a:r>
              <a:rPr sz="1300" b="1" i="0">
                <a:solidFill>
                  <a:srgbClr val="2C3E50"/>
                </a:solidFill>
                <a:latin typeface="Calibri"/>
              </a:rPr>
              <a:t>Distance Matrix</a:t>
            </a:r>
          </a:p>
        </p:txBody>
      </p:sp>
      <p:sp>
        <p:nvSpPr>
          <p:cNvPr id="15" name="TextBox 14"/>
          <p:cNvSpPr txBox="1"/>
          <p:nvPr/>
        </p:nvSpPr>
        <p:spPr>
          <a:xfrm>
            <a:off x="3840480" y="2148840"/>
            <a:ext cx="7498079" cy="621792"/>
          </a:xfrm>
          <a:prstGeom prst="rect">
            <a:avLst/>
          </a:prstGeom>
          <a:noFill/>
        </p:spPr>
        <p:txBody>
          <a:bodyPr wrap="square"/>
          <a:lstStyle/>
          <a:p>
            <a:pPr algn="l"/>
            <a:r>
              <a:rPr sz="1200" b="0" i="0">
                <a:solidFill>
                  <a:srgbClr val="2C3E50"/>
                </a:solidFill>
                <a:latin typeface="Calibri"/>
              </a:rPr>
              <a:t>N×N matrix computed for all pairwise distances between collection points</a:t>
            </a:r>
          </a:p>
        </p:txBody>
      </p:sp>
      <p:sp>
        <p:nvSpPr>
          <p:cNvPr id="16" name="Rectangle 15"/>
          <p:cNvSpPr/>
          <p:nvPr/>
        </p:nvSpPr>
        <p:spPr>
          <a:xfrm>
            <a:off x="731520" y="2926080"/>
            <a:ext cx="10789920" cy="749808"/>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2926080"/>
            <a:ext cx="548640" cy="749808"/>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090672"/>
            <a:ext cx="512064" cy="420624"/>
          </a:xfrm>
          <a:prstGeom prst="rect">
            <a:avLst/>
          </a:prstGeom>
          <a:noFill/>
        </p:spPr>
        <p:txBody>
          <a:bodyPr wrap="square"/>
          <a:lstStyle/>
          <a:p>
            <a:pPr algn="ctr"/>
            <a:r>
              <a:rPr sz="2000" b="1" i="0">
                <a:solidFill>
                  <a:srgbClr val="FFFFFF"/>
                </a:solidFill>
                <a:latin typeface="Calibri"/>
              </a:rPr>
              <a:t>3</a:t>
            </a:r>
          </a:p>
        </p:txBody>
      </p:sp>
      <p:sp>
        <p:nvSpPr>
          <p:cNvPr id="19" name="TextBox 18"/>
          <p:cNvSpPr txBox="1"/>
          <p:nvPr/>
        </p:nvSpPr>
        <p:spPr>
          <a:xfrm>
            <a:off x="1389888" y="2971800"/>
            <a:ext cx="2377440" cy="329184"/>
          </a:xfrm>
          <a:prstGeom prst="rect">
            <a:avLst/>
          </a:prstGeom>
          <a:noFill/>
        </p:spPr>
        <p:txBody>
          <a:bodyPr wrap="square"/>
          <a:lstStyle/>
          <a:p>
            <a:pPr algn="l"/>
            <a:r>
              <a:rPr sz="1300" b="1" i="0">
                <a:solidFill>
                  <a:srgbClr val="2C3E50"/>
                </a:solidFill>
                <a:latin typeface="Calibri"/>
              </a:rPr>
              <a:t>Nearest Neighbor TSP</a:t>
            </a:r>
          </a:p>
        </p:txBody>
      </p:sp>
      <p:sp>
        <p:nvSpPr>
          <p:cNvPr id="20" name="TextBox 19"/>
          <p:cNvSpPr txBox="1"/>
          <p:nvPr/>
        </p:nvSpPr>
        <p:spPr>
          <a:xfrm>
            <a:off x="3840480" y="2971800"/>
            <a:ext cx="7498079" cy="621792"/>
          </a:xfrm>
          <a:prstGeom prst="rect">
            <a:avLst/>
          </a:prstGeom>
          <a:noFill/>
        </p:spPr>
        <p:txBody>
          <a:bodyPr wrap="square"/>
          <a:lstStyle/>
          <a:p>
            <a:pPr algn="l"/>
            <a:r>
              <a:rPr sz="1200" b="0" i="0">
                <a:solidFill>
                  <a:srgbClr val="2C3E50"/>
                </a:solidFill>
                <a:latin typeface="Calibri"/>
              </a:rPr>
              <a:t>Greedy initial route construction — always visits the closest unvisited point next</a:t>
            </a:r>
          </a:p>
        </p:txBody>
      </p:sp>
      <p:sp>
        <p:nvSpPr>
          <p:cNvPr id="21" name="Rectangle 20"/>
          <p:cNvSpPr/>
          <p:nvPr/>
        </p:nvSpPr>
        <p:spPr>
          <a:xfrm>
            <a:off x="731520" y="3749040"/>
            <a:ext cx="10789920" cy="749808"/>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1520" y="3749040"/>
            <a:ext cx="548640" cy="749808"/>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9808" y="3913632"/>
            <a:ext cx="512064" cy="420624"/>
          </a:xfrm>
          <a:prstGeom prst="rect">
            <a:avLst/>
          </a:prstGeom>
          <a:noFill/>
        </p:spPr>
        <p:txBody>
          <a:bodyPr wrap="square"/>
          <a:lstStyle/>
          <a:p>
            <a:pPr algn="ctr"/>
            <a:r>
              <a:rPr sz="2000" b="1" i="0">
                <a:solidFill>
                  <a:srgbClr val="FFFFFF"/>
                </a:solidFill>
                <a:latin typeface="Calibri"/>
              </a:rPr>
              <a:t>4</a:t>
            </a:r>
          </a:p>
        </p:txBody>
      </p:sp>
      <p:sp>
        <p:nvSpPr>
          <p:cNvPr id="24" name="TextBox 23"/>
          <p:cNvSpPr txBox="1"/>
          <p:nvPr/>
        </p:nvSpPr>
        <p:spPr>
          <a:xfrm>
            <a:off x="1389888" y="3794760"/>
            <a:ext cx="2377440" cy="329184"/>
          </a:xfrm>
          <a:prstGeom prst="rect">
            <a:avLst/>
          </a:prstGeom>
          <a:noFill/>
        </p:spPr>
        <p:txBody>
          <a:bodyPr wrap="square"/>
          <a:lstStyle/>
          <a:p>
            <a:pPr algn="l"/>
            <a:r>
              <a:rPr sz="1300" b="1" i="0">
                <a:solidFill>
                  <a:srgbClr val="2C3E50"/>
                </a:solidFill>
                <a:latin typeface="Calibri"/>
              </a:rPr>
              <a:t>2-opt Improvement</a:t>
            </a:r>
          </a:p>
        </p:txBody>
      </p:sp>
      <p:sp>
        <p:nvSpPr>
          <p:cNvPr id="25" name="TextBox 24"/>
          <p:cNvSpPr txBox="1"/>
          <p:nvPr/>
        </p:nvSpPr>
        <p:spPr>
          <a:xfrm>
            <a:off x="3840480" y="3794760"/>
            <a:ext cx="7498079" cy="621792"/>
          </a:xfrm>
          <a:prstGeom prst="rect">
            <a:avLst/>
          </a:prstGeom>
          <a:noFill/>
        </p:spPr>
        <p:txBody>
          <a:bodyPr wrap="square"/>
          <a:lstStyle/>
          <a:p>
            <a:pPr algn="l"/>
            <a:r>
              <a:rPr sz="1200" b="0" i="0">
                <a:solidFill>
                  <a:srgbClr val="2C3E50"/>
                </a:solidFill>
                <a:latin typeface="Calibri"/>
              </a:rPr>
              <a:t>Iteratively reverses route segments to eliminate crossing paths and reduce total distance</a:t>
            </a:r>
          </a:p>
        </p:txBody>
      </p:sp>
      <p:sp>
        <p:nvSpPr>
          <p:cNvPr id="26" name="Rectangle 25"/>
          <p:cNvSpPr/>
          <p:nvPr/>
        </p:nvSpPr>
        <p:spPr>
          <a:xfrm>
            <a:off x="731520" y="4572000"/>
            <a:ext cx="10789920" cy="749808"/>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31520" y="4572000"/>
            <a:ext cx="548640" cy="749808"/>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9808" y="4736592"/>
            <a:ext cx="512064" cy="420624"/>
          </a:xfrm>
          <a:prstGeom prst="rect">
            <a:avLst/>
          </a:prstGeom>
          <a:noFill/>
        </p:spPr>
        <p:txBody>
          <a:bodyPr wrap="square"/>
          <a:lstStyle/>
          <a:p>
            <a:pPr algn="ctr"/>
            <a:r>
              <a:rPr sz="2000" b="1" i="0">
                <a:solidFill>
                  <a:srgbClr val="FFFFFF"/>
                </a:solidFill>
                <a:latin typeface="Calibri"/>
              </a:rPr>
              <a:t>5</a:t>
            </a:r>
          </a:p>
        </p:txBody>
      </p:sp>
      <p:sp>
        <p:nvSpPr>
          <p:cNvPr id="29" name="TextBox 28"/>
          <p:cNvSpPr txBox="1"/>
          <p:nvPr/>
        </p:nvSpPr>
        <p:spPr>
          <a:xfrm>
            <a:off x="1389888" y="4617720"/>
            <a:ext cx="2377440" cy="329184"/>
          </a:xfrm>
          <a:prstGeom prst="rect">
            <a:avLst/>
          </a:prstGeom>
          <a:noFill/>
        </p:spPr>
        <p:txBody>
          <a:bodyPr wrap="square"/>
          <a:lstStyle/>
          <a:p>
            <a:pPr algn="l"/>
            <a:r>
              <a:rPr sz="1300" b="1" i="0">
                <a:solidFill>
                  <a:srgbClr val="2C3E50"/>
                </a:solidFill>
                <a:latin typeface="Calibri"/>
              </a:rPr>
              <a:t>Traffic-aware Planning</a:t>
            </a:r>
          </a:p>
        </p:txBody>
      </p:sp>
      <p:sp>
        <p:nvSpPr>
          <p:cNvPr id="30" name="TextBox 29"/>
          <p:cNvSpPr txBox="1"/>
          <p:nvPr/>
        </p:nvSpPr>
        <p:spPr>
          <a:xfrm>
            <a:off x="3840480" y="4617720"/>
            <a:ext cx="7498079" cy="621792"/>
          </a:xfrm>
          <a:prstGeom prst="rect">
            <a:avLst/>
          </a:prstGeom>
          <a:noFill/>
        </p:spPr>
        <p:txBody>
          <a:bodyPr wrap="square"/>
          <a:lstStyle/>
          <a:p>
            <a:pPr algn="l"/>
            <a:r>
              <a:rPr sz="1200" b="0" i="0">
                <a:solidFill>
                  <a:srgbClr val="2C3E50"/>
                </a:solidFill>
                <a:latin typeface="Calibri"/>
              </a:rPr>
              <a:t>Time-of-day multipliers applied: morning rush 1.5×, evening peak 1.4×, late night 0.9×</a:t>
            </a:r>
          </a:p>
        </p:txBody>
      </p:sp>
      <p:sp>
        <p:nvSpPr>
          <p:cNvPr id="31" name="Rectangle 30"/>
          <p:cNvSpPr/>
          <p:nvPr/>
        </p:nvSpPr>
        <p:spPr>
          <a:xfrm>
            <a:off x="731520" y="5394960"/>
            <a:ext cx="10789920" cy="749808"/>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5394960"/>
            <a:ext cx="548640" cy="749808"/>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9808" y="5559552"/>
            <a:ext cx="512064" cy="420624"/>
          </a:xfrm>
          <a:prstGeom prst="rect">
            <a:avLst/>
          </a:prstGeom>
          <a:noFill/>
        </p:spPr>
        <p:txBody>
          <a:bodyPr wrap="square"/>
          <a:lstStyle/>
          <a:p>
            <a:pPr algn="ctr"/>
            <a:r>
              <a:rPr sz="2000" b="1" i="0">
                <a:solidFill>
                  <a:srgbClr val="FFFFFF"/>
                </a:solidFill>
                <a:latin typeface="Calibri"/>
              </a:rPr>
              <a:t>6</a:t>
            </a:r>
          </a:p>
        </p:txBody>
      </p:sp>
      <p:sp>
        <p:nvSpPr>
          <p:cNvPr id="34" name="TextBox 33"/>
          <p:cNvSpPr txBox="1"/>
          <p:nvPr/>
        </p:nvSpPr>
        <p:spPr>
          <a:xfrm>
            <a:off x="1389888" y="5440680"/>
            <a:ext cx="2377440" cy="329184"/>
          </a:xfrm>
          <a:prstGeom prst="rect">
            <a:avLst/>
          </a:prstGeom>
          <a:noFill/>
        </p:spPr>
        <p:txBody>
          <a:bodyPr wrap="square"/>
          <a:lstStyle/>
          <a:p>
            <a:pPr algn="l"/>
            <a:r>
              <a:rPr sz="1300" b="1" i="0">
                <a:solidFill>
                  <a:srgbClr val="2C3E50"/>
                </a:solidFill>
                <a:latin typeface="Calibri"/>
              </a:rPr>
              <a:t>Outputs</a:t>
            </a:r>
          </a:p>
        </p:txBody>
      </p:sp>
      <p:sp>
        <p:nvSpPr>
          <p:cNvPr id="35" name="TextBox 34"/>
          <p:cNvSpPr txBox="1"/>
          <p:nvPr/>
        </p:nvSpPr>
        <p:spPr>
          <a:xfrm>
            <a:off x="3840480" y="5440680"/>
            <a:ext cx="7498079" cy="621792"/>
          </a:xfrm>
          <a:prstGeom prst="rect">
            <a:avLst/>
          </a:prstGeom>
          <a:noFill/>
        </p:spPr>
        <p:txBody>
          <a:bodyPr wrap="square"/>
          <a:lstStyle/>
          <a:p>
            <a:pPr algn="l"/>
            <a:r>
              <a:rPr sz="1200" b="0" i="0">
                <a:solidFill>
                  <a:srgbClr val="2C3E50"/>
                </a:solidFill>
                <a:latin typeface="Calibri"/>
              </a:rPr>
              <a:t>Optimized route order · Total distance (km) · Estimated time · Fuel cost estimate · Savings % vs unoptimized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dirty="0">
                <a:solidFill>
                  <a:srgbClr val="2C3E50"/>
                </a:solidFill>
                <a:latin typeface="Calibri"/>
              </a:rPr>
              <a:t>Notification &amp; Gamification System</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5029200" cy="365760"/>
          </a:xfrm>
          <a:prstGeom prst="rect">
            <a:avLst/>
          </a:prstGeom>
          <a:noFill/>
        </p:spPr>
        <p:txBody>
          <a:bodyPr wrap="square"/>
          <a:lstStyle/>
          <a:p>
            <a:pPr algn="l"/>
            <a:r>
              <a:rPr sz="1500" b="1" i="0">
                <a:solidFill>
                  <a:srgbClr val="2C3E50"/>
                </a:solidFill>
                <a:latin typeface="Calibri"/>
              </a:rPr>
              <a:t>🔔  7 Notification Types</a:t>
            </a:r>
          </a:p>
        </p:txBody>
      </p:sp>
      <p:sp>
        <p:nvSpPr>
          <p:cNvPr id="7" name="TextBox 6"/>
          <p:cNvSpPr txBox="1"/>
          <p:nvPr/>
        </p:nvSpPr>
        <p:spPr>
          <a:xfrm>
            <a:off x="731520" y="1783080"/>
            <a:ext cx="1828800" cy="411480"/>
          </a:xfrm>
          <a:prstGeom prst="rect">
            <a:avLst/>
          </a:prstGeom>
          <a:noFill/>
        </p:spPr>
        <p:txBody>
          <a:bodyPr wrap="square"/>
          <a:lstStyle/>
          <a:p>
            <a:pPr algn="l"/>
            <a:r>
              <a:rPr sz="1200" b="1" i="0">
                <a:solidFill>
                  <a:srgbClr val="0D9276"/>
                </a:solidFill>
                <a:latin typeface="Calibri"/>
              </a:rPr>
              <a:t>Reminder</a:t>
            </a:r>
          </a:p>
        </p:txBody>
      </p:sp>
      <p:sp>
        <p:nvSpPr>
          <p:cNvPr id="8" name="TextBox 7"/>
          <p:cNvSpPr txBox="1"/>
          <p:nvPr/>
        </p:nvSpPr>
        <p:spPr>
          <a:xfrm>
            <a:off x="2651760" y="1783080"/>
            <a:ext cx="3200400" cy="411480"/>
          </a:xfrm>
          <a:prstGeom prst="rect">
            <a:avLst/>
          </a:prstGeom>
          <a:noFill/>
        </p:spPr>
        <p:txBody>
          <a:bodyPr wrap="square"/>
          <a:lstStyle/>
          <a:p>
            <a:pPr algn="l"/>
            <a:r>
              <a:rPr sz="1200" b="0" i="0">
                <a:solidFill>
                  <a:srgbClr val="2C3E50"/>
                </a:solidFill>
                <a:latin typeface="Calibri"/>
              </a:rPr>
              <a:t>Inactivity alerts (3+ days inactive)</a:t>
            </a:r>
          </a:p>
        </p:txBody>
      </p:sp>
      <p:sp>
        <p:nvSpPr>
          <p:cNvPr id="9" name="TextBox 8"/>
          <p:cNvSpPr txBox="1"/>
          <p:nvPr/>
        </p:nvSpPr>
        <p:spPr>
          <a:xfrm>
            <a:off x="731520" y="2240280"/>
            <a:ext cx="1828800" cy="411480"/>
          </a:xfrm>
          <a:prstGeom prst="rect">
            <a:avLst/>
          </a:prstGeom>
          <a:noFill/>
        </p:spPr>
        <p:txBody>
          <a:bodyPr wrap="square"/>
          <a:lstStyle/>
          <a:p>
            <a:pPr algn="l"/>
            <a:r>
              <a:rPr sz="1200" b="1" i="0">
                <a:solidFill>
                  <a:srgbClr val="0D9276"/>
                </a:solidFill>
                <a:latin typeface="Calibri"/>
              </a:rPr>
              <a:t>Achievement</a:t>
            </a:r>
          </a:p>
        </p:txBody>
      </p:sp>
      <p:sp>
        <p:nvSpPr>
          <p:cNvPr id="10" name="TextBox 9"/>
          <p:cNvSpPr txBox="1"/>
          <p:nvPr/>
        </p:nvSpPr>
        <p:spPr>
          <a:xfrm>
            <a:off x="2651760" y="2240280"/>
            <a:ext cx="3200400" cy="411480"/>
          </a:xfrm>
          <a:prstGeom prst="rect">
            <a:avLst/>
          </a:prstGeom>
          <a:noFill/>
        </p:spPr>
        <p:txBody>
          <a:bodyPr wrap="square"/>
          <a:lstStyle/>
          <a:p>
            <a:pPr algn="l"/>
            <a:r>
              <a:rPr sz="1200" b="0" i="0">
                <a:solidFill>
                  <a:srgbClr val="2C3E50"/>
                </a:solidFill>
                <a:latin typeface="Calibri"/>
              </a:rPr>
              <a:t>Unlock badges &amp; earn points</a:t>
            </a:r>
          </a:p>
        </p:txBody>
      </p:sp>
      <p:sp>
        <p:nvSpPr>
          <p:cNvPr id="11" name="TextBox 10"/>
          <p:cNvSpPr txBox="1"/>
          <p:nvPr/>
        </p:nvSpPr>
        <p:spPr>
          <a:xfrm>
            <a:off x="731520" y="2697480"/>
            <a:ext cx="1828800" cy="411480"/>
          </a:xfrm>
          <a:prstGeom prst="rect">
            <a:avLst/>
          </a:prstGeom>
          <a:noFill/>
        </p:spPr>
        <p:txBody>
          <a:bodyPr wrap="square"/>
          <a:lstStyle/>
          <a:p>
            <a:pPr algn="l"/>
            <a:r>
              <a:rPr sz="1200" b="1" i="0">
                <a:solidFill>
                  <a:srgbClr val="0D9276"/>
                </a:solidFill>
                <a:latin typeface="Calibri"/>
              </a:rPr>
              <a:t>Colony Threshold</a:t>
            </a:r>
          </a:p>
        </p:txBody>
      </p:sp>
      <p:sp>
        <p:nvSpPr>
          <p:cNvPr id="12" name="TextBox 11"/>
          <p:cNvSpPr txBox="1"/>
          <p:nvPr/>
        </p:nvSpPr>
        <p:spPr>
          <a:xfrm>
            <a:off x="2651760" y="2697480"/>
            <a:ext cx="3200400" cy="411480"/>
          </a:xfrm>
          <a:prstGeom prst="rect">
            <a:avLst/>
          </a:prstGeom>
          <a:noFill/>
        </p:spPr>
        <p:txBody>
          <a:bodyPr wrap="square"/>
          <a:lstStyle/>
          <a:p>
            <a:pPr algn="l"/>
            <a:r>
              <a:rPr sz="1200" b="0" i="0">
                <a:solidFill>
                  <a:srgbClr val="2C3E50"/>
                </a:solidFill>
                <a:latin typeface="Calibri"/>
              </a:rPr>
              <a:t>Bins near capacity (within 20%)</a:t>
            </a:r>
          </a:p>
        </p:txBody>
      </p:sp>
      <p:sp>
        <p:nvSpPr>
          <p:cNvPr id="13" name="TextBox 12"/>
          <p:cNvSpPr txBox="1"/>
          <p:nvPr/>
        </p:nvSpPr>
        <p:spPr>
          <a:xfrm>
            <a:off x="731520" y="3154680"/>
            <a:ext cx="1828800" cy="411480"/>
          </a:xfrm>
          <a:prstGeom prst="rect">
            <a:avLst/>
          </a:prstGeom>
          <a:noFill/>
        </p:spPr>
        <p:txBody>
          <a:bodyPr wrap="square"/>
          <a:lstStyle/>
          <a:p>
            <a:pPr algn="l"/>
            <a:r>
              <a:rPr sz="1200" b="1" i="0">
                <a:solidFill>
                  <a:srgbClr val="0D9276"/>
                </a:solidFill>
                <a:latin typeface="Calibri"/>
              </a:rPr>
              <a:t>Collection Scheduled</a:t>
            </a:r>
          </a:p>
        </p:txBody>
      </p:sp>
      <p:sp>
        <p:nvSpPr>
          <p:cNvPr id="14" name="TextBox 13"/>
          <p:cNvSpPr txBox="1"/>
          <p:nvPr/>
        </p:nvSpPr>
        <p:spPr>
          <a:xfrm>
            <a:off x="2651760" y="3154680"/>
            <a:ext cx="3200400" cy="411480"/>
          </a:xfrm>
          <a:prstGeom prst="rect">
            <a:avLst/>
          </a:prstGeom>
          <a:noFill/>
        </p:spPr>
        <p:txBody>
          <a:bodyPr wrap="square"/>
          <a:lstStyle/>
          <a:p>
            <a:pPr algn="l"/>
            <a:r>
              <a:rPr sz="1200" b="0" i="0">
                <a:solidFill>
                  <a:srgbClr val="2C3E50"/>
                </a:solidFill>
                <a:latin typeface="Calibri"/>
              </a:rPr>
              <a:t>Upcoming pickup alerts</a:t>
            </a:r>
          </a:p>
        </p:txBody>
      </p:sp>
      <p:sp>
        <p:nvSpPr>
          <p:cNvPr id="15" name="TextBox 14"/>
          <p:cNvSpPr txBox="1"/>
          <p:nvPr/>
        </p:nvSpPr>
        <p:spPr>
          <a:xfrm>
            <a:off x="731520" y="3611880"/>
            <a:ext cx="1828800" cy="411480"/>
          </a:xfrm>
          <a:prstGeom prst="rect">
            <a:avLst/>
          </a:prstGeom>
          <a:noFill/>
        </p:spPr>
        <p:txBody>
          <a:bodyPr wrap="square"/>
          <a:lstStyle/>
          <a:p>
            <a:pPr algn="l"/>
            <a:r>
              <a:rPr sz="1200" b="1" i="0">
                <a:solidFill>
                  <a:srgbClr val="0D9276"/>
                </a:solidFill>
                <a:latin typeface="Calibri"/>
              </a:rPr>
              <a:t>Collection Completed</a:t>
            </a:r>
          </a:p>
        </p:txBody>
      </p:sp>
      <p:sp>
        <p:nvSpPr>
          <p:cNvPr id="16" name="TextBox 15"/>
          <p:cNvSpPr txBox="1"/>
          <p:nvPr/>
        </p:nvSpPr>
        <p:spPr>
          <a:xfrm>
            <a:off x="2651760" y="3611880"/>
            <a:ext cx="3200400" cy="411480"/>
          </a:xfrm>
          <a:prstGeom prst="rect">
            <a:avLst/>
          </a:prstGeom>
          <a:noFill/>
        </p:spPr>
        <p:txBody>
          <a:bodyPr wrap="square"/>
          <a:lstStyle/>
          <a:p>
            <a:pPr algn="l"/>
            <a:r>
              <a:rPr sz="1200" b="0" i="0">
                <a:solidFill>
                  <a:srgbClr val="2C3E50"/>
                </a:solidFill>
                <a:latin typeface="Calibri"/>
              </a:rPr>
              <a:t>Weight collected confirmation</a:t>
            </a:r>
          </a:p>
        </p:txBody>
      </p:sp>
      <p:sp>
        <p:nvSpPr>
          <p:cNvPr id="17" name="TextBox 16"/>
          <p:cNvSpPr txBox="1"/>
          <p:nvPr/>
        </p:nvSpPr>
        <p:spPr>
          <a:xfrm>
            <a:off x="731520" y="4069080"/>
            <a:ext cx="1828800" cy="411480"/>
          </a:xfrm>
          <a:prstGeom prst="rect">
            <a:avLst/>
          </a:prstGeom>
          <a:noFill/>
        </p:spPr>
        <p:txBody>
          <a:bodyPr wrap="square"/>
          <a:lstStyle/>
          <a:p>
            <a:pPr algn="l"/>
            <a:r>
              <a:rPr sz="1200" b="1" i="0">
                <a:solidFill>
                  <a:srgbClr val="0D9276"/>
                </a:solidFill>
                <a:latin typeface="Calibri"/>
              </a:rPr>
              <a:t>Weekly Summary</a:t>
            </a:r>
          </a:p>
        </p:txBody>
      </p:sp>
      <p:sp>
        <p:nvSpPr>
          <p:cNvPr id="18" name="TextBox 17"/>
          <p:cNvSpPr txBox="1"/>
          <p:nvPr/>
        </p:nvSpPr>
        <p:spPr>
          <a:xfrm>
            <a:off x="2651760" y="4069080"/>
            <a:ext cx="3200400" cy="411480"/>
          </a:xfrm>
          <a:prstGeom prst="rect">
            <a:avLst/>
          </a:prstGeom>
          <a:noFill/>
        </p:spPr>
        <p:txBody>
          <a:bodyPr wrap="square"/>
          <a:lstStyle/>
          <a:p>
            <a:pPr algn="l"/>
            <a:r>
              <a:rPr sz="1200" b="0" i="0">
                <a:solidFill>
                  <a:srgbClr val="2C3E50"/>
                </a:solidFill>
                <a:latin typeface="Calibri"/>
              </a:rPr>
              <a:t>Items classified, CO₂ saved, points</a:t>
            </a:r>
          </a:p>
        </p:txBody>
      </p:sp>
      <p:sp>
        <p:nvSpPr>
          <p:cNvPr id="19" name="TextBox 18"/>
          <p:cNvSpPr txBox="1"/>
          <p:nvPr/>
        </p:nvSpPr>
        <p:spPr>
          <a:xfrm>
            <a:off x="731520" y="4526280"/>
            <a:ext cx="1828800" cy="411480"/>
          </a:xfrm>
          <a:prstGeom prst="rect">
            <a:avLst/>
          </a:prstGeom>
          <a:noFill/>
        </p:spPr>
        <p:txBody>
          <a:bodyPr wrap="square"/>
          <a:lstStyle/>
          <a:p>
            <a:pPr algn="l"/>
            <a:r>
              <a:rPr sz="1200" b="1" i="0">
                <a:solidFill>
                  <a:srgbClr val="0D9276"/>
                </a:solidFill>
                <a:latin typeface="Calibri"/>
              </a:rPr>
              <a:t>Streak Milestone</a:t>
            </a:r>
          </a:p>
        </p:txBody>
      </p:sp>
      <p:sp>
        <p:nvSpPr>
          <p:cNvPr id="20" name="TextBox 19"/>
          <p:cNvSpPr txBox="1"/>
          <p:nvPr/>
        </p:nvSpPr>
        <p:spPr>
          <a:xfrm>
            <a:off x="2651760" y="4526280"/>
            <a:ext cx="3200400" cy="411480"/>
          </a:xfrm>
          <a:prstGeom prst="rect">
            <a:avLst/>
          </a:prstGeom>
          <a:noFill/>
        </p:spPr>
        <p:txBody>
          <a:bodyPr wrap="square"/>
          <a:lstStyle/>
          <a:p>
            <a:pPr algn="l"/>
            <a:r>
              <a:rPr sz="1200" b="0" i="0">
                <a:solidFill>
                  <a:srgbClr val="2C3E50"/>
                </a:solidFill>
                <a:latin typeface="Calibri"/>
              </a:rPr>
              <a:t>Consecutive day streak rewards</a:t>
            </a:r>
          </a:p>
        </p:txBody>
      </p:sp>
      <p:sp>
        <p:nvSpPr>
          <p:cNvPr id="21" name="TextBox 20"/>
          <p:cNvSpPr txBox="1"/>
          <p:nvPr/>
        </p:nvSpPr>
        <p:spPr>
          <a:xfrm>
            <a:off x="6400800" y="1371600"/>
            <a:ext cx="5029200" cy="365760"/>
          </a:xfrm>
          <a:prstGeom prst="rect">
            <a:avLst/>
          </a:prstGeom>
          <a:noFill/>
        </p:spPr>
        <p:txBody>
          <a:bodyPr wrap="square"/>
          <a:lstStyle/>
          <a:p>
            <a:pPr algn="l"/>
            <a:r>
              <a:rPr sz="1500" b="1" i="0">
                <a:solidFill>
                  <a:srgbClr val="2C3E50"/>
                </a:solidFill>
                <a:latin typeface="Calibri"/>
              </a:rPr>
              <a:t>🏆  Gamification System</a:t>
            </a:r>
          </a:p>
        </p:txBody>
      </p:sp>
      <p:sp>
        <p:nvSpPr>
          <p:cNvPr id="22" name="TextBox 21"/>
          <p:cNvSpPr txBox="1"/>
          <p:nvPr/>
        </p:nvSpPr>
        <p:spPr>
          <a:xfrm>
            <a:off x="6400800" y="1783080"/>
            <a:ext cx="5303520" cy="274320"/>
          </a:xfrm>
          <a:prstGeom prst="rect">
            <a:avLst/>
          </a:prstGeom>
          <a:noFill/>
        </p:spPr>
        <p:txBody>
          <a:bodyPr wrap="square"/>
          <a:lstStyle/>
          <a:p>
            <a:pPr algn="l"/>
            <a:r>
              <a:rPr sz="1300" b="1" i="0">
                <a:solidFill>
                  <a:srgbClr val="0D9276"/>
                </a:solidFill>
                <a:latin typeface="Calibri"/>
              </a:rPr>
              <a:t>Configurable Points</a:t>
            </a:r>
          </a:p>
        </p:txBody>
      </p:sp>
      <p:sp>
        <p:nvSpPr>
          <p:cNvPr id="23" name="TextBox 22"/>
          <p:cNvSpPr txBox="1"/>
          <p:nvPr/>
        </p:nvSpPr>
        <p:spPr>
          <a:xfrm>
            <a:off x="6400800" y="2057400"/>
            <a:ext cx="5303520" cy="457200"/>
          </a:xfrm>
          <a:prstGeom prst="rect">
            <a:avLst/>
          </a:prstGeom>
          <a:noFill/>
        </p:spPr>
        <p:txBody>
          <a:bodyPr wrap="square"/>
          <a:lstStyle/>
          <a:p>
            <a:pPr algn="l"/>
            <a:r>
              <a:rPr sz="1200" b="0" i="0">
                <a:solidFill>
                  <a:srgbClr val="2C3E50"/>
                </a:solidFill>
                <a:latin typeface="Calibri"/>
              </a:rPr>
              <a:t>Points per waste type set in points_config DB table</a:t>
            </a:r>
          </a:p>
        </p:txBody>
      </p:sp>
      <p:sp>
        <p:nvSpPr>
          <p:cNvPr id="24" name="TextBox 23"/>
          <p:cNvSpPr txBox="1"/>
          <p:nvPr/>
        </p:nvSpPr>
        <p:spPr>
          <a:xfrm>
            <a:off x="6400800" y="2587752"/>
            <a:ext cx="5303520" cy="274320"/>
          </a:xfrm>
          <a:prstGeom prst="rect">
            <a:avLst/>
          </a:prstGeom>
          <a:noFill/>
        </p:spPr>
        <p:txBody>
          <a:bodyPr wrap="square"/>
          <a:lstStyle/>
          <a:p>
            <a:pPr algn="l"/>
            <a:r>
              <a:rPr sz="1300" b="1" i="0">
                <a:solidFill>
                  <a:srgbClr val="0D9276"/>
                </a:solidFill>
                <a:latin typeface="Calibri"/>
              </a:rPr>
              <a:t>Leaderboards</a:t>
            </a:r>
          </a:p>
        </p:txBody>
      </p:sp>
      <p:sp>
        <p:nvSpPr>
          <p:cNvPr id="25" name="TextBox 24"/>
          <p:cNvSpPr txBox="1"/>
          <p:nvPr/>
        </p:nvSpPr>
        <p:spPr>
          <a:xfrm>
            <a:off x="6400800" y="2862072"/>
            <a:ext cx="5303520" cy="457200"/>
          </a:xfrm>
          <a:prstGeom prst="rect">
            <a:avLst/>
          </a:prstGeom>
          <a:noFill/>
        </p:spPr>
        <p:txBody>
          <a:bodyPr wrap="square"/>
          <a:lstStyle/>
          <a:p>
            <a:pPr algn="l"/>
            <a:r>
              <a:rPr sz="1200" b="0" i="0">
                <a:solidFill>
                  <a:srgbClr val="2C3E50"/>
                </a:solidFill>
                <a:latin typeface="Calibri"/>
              </a:rPr>
              <a:t>Colony &amp; user rankings via DB views with RANK() window function</a:t>
            </a:r>
          </a:p>
        </p:txBody>
      </p:sp>
      <p:sp>
        <p:nvSpPr>
          <p:cNvPr id="26" name="TextBox 25"/>
          <p:cNvSpPr txBox="1"/>
          <p:nvPr/>
        </p:nvSpPr>
        <p:spPr>
          <a:xfrm>
            <a:off x="6400800" y="3392424"/>
            <a:ext cx="5303520" cy="274320"/>
          </a:xfrm>
          <a:prstGeom prst="rect">
            <a:avLst/>
          </a:prstGeom>
          <a:noFill/>
        </p:spPr>
        <p:txBody>
          <a:bodyPr wrap="square"/>
          <a:lstStyle/>
          <a:p>
            <a:pPr algn="l"/>
            <a:r>
              <a:rPr sz="1300" b="1" i="0">
                <a:solidFill>
                  <a:srgbClr val="0D9276"/>
                </a:solidFill>
                <a:latin typeface="Calibri"/>
              </a:rPr>
              <a:t>Achievements</a:t>
            </a:r>
          </a:p>
        </p:txBody>
      </p:sp>
      <p:sp>
        <p:nvSpPr>
          <p:cNvPr id="27" name="TextBox 26"/>
          <p:cNvSpPr txBox="1"/>
          <p:nvPr/>
        </p:nvSpPr>
        <p:spPr>
          <a:xfrm>
            <a:off x="6400800" y="3666744"/>
            <a:ext cx="5303520" cy="457200"/>
          </a:xfrm>
          <a:prstGeom prst="rect">
            <a:avLst/>
          </a:prstGeom>
          <a:noFill/>
        </p:spPr>
        <p:txBody>
          <a:bodyPr wrap="square"/>
          <a:lstStyle/>
          <a:p>
            <a:pPr algn="l"/>
            <a:r>
              <a:rPr sz="1200" b="0" i="0">
                <a:solidFill>
                  <a:srgbClr val="2C3E50"/>
                </a:solidFill>
                <a:latin typeface="Calibri"/>
              </a:rPr>
              <a:t>Badge system with streak tracking and milestone unlocks</a:t>
            </a:r>
          </a:p>
        </p:txBody>
      </p:sp>
      <p:sp>
        <p:nvSpPr>
          <p:cNvPr id="28" name="TextBox 27"/>
          <p:cNvSpPr txBox="1"/>
          <p:nvPr/>
        </p:nvSpPr>
        <p:spPr>
          <a:xfrm>
            <a:off x="6400800" y="4197096"/>
            <a:ext cx="5303520" cy="274320"/>
          </a:xfrm>
          <a:prstGeom prst="rect">
            <a:avLst/>
          </a:prstGeom>
          <a:noFill/>
        </p:spPr>
        <p:txBody>
          <a:bodyPr wrap="square"/>
          <a:lstStyle/>
          <a:p>
            <a:pPr algn="l"/>
            <a:r>
              <a:rPr sz="1300" b="1" i="0">
                <a:solidFill>
                  <a:srgbClr val="0D9276"/>
                </a:solidFill>
                <a:latin typeface="Calibri"/>
              </a:rPr>
              <a:t>Colony Competition</a:t>
            </a:r>
          </a:p>
        </p:txBody>
      </p:sp>
      <p:sp>
        <p:nvSpPr>
          <p:cNvPr id="29" name="TextBox 28"/>
          <p:cNvSpPr txBox="1"/>
          <p:nvPr/>
        </p:nvSpPr>
        <p:spPr>
          <a:xfrm>
            <a:off x="6400800" y="4471416"/>
            <a:ext cx="5303520" cy="457200"/>
          </a:xfrm>
          <a:prstGeom prst="rect">
            <a:avLst/>
          </a:prstGeom>
          <a:noFill/>
        </p:spPr>
        <p:txBody>
          <a:bodyPr wrap="square"/>
          <a:lstStyle/>
          <a:p>
            <a:pPr algn="l"/>
            <a:r>
              <a:rPr sz="1200" b="0" i="0">
                <a:solidFill>
                  <a:srgbClr val="2C3E50"/>
                </a:solidFill>
                <a:latin typeface="Calibri"/>
              </a:rPr>
              <a:t>Colony-based group challenge to foster community rivalry</a:t>
            </a:r>
          </a:p>
        </p:txBody>
      </p:sp>
      <p:sp>
        <p:nvSpPr>
          <p:cNvPr id="30" name="Rectangle 29"/>
          <p:cNvSpPr/>
          <p:nvPr/>
        </p:nvSpPr>
        <p:spPr>
          <a:xfrm>
            <a:off x="6035040" y="1371600"/>
            <a:ext cx="36576" cy="475488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Analytics &amp; Prediction</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10789920" cy="1115568"/>
          </a:xfrm>
          <a:prstGeom prst="rect">
            <a:avLst/>
          </a:prstGeom>
          <a:solidFill>
            <a:srgbClr val="F2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325880"/>
            <a:ext cx="10607040" cy="347472"/>
          </a:xfrm>
          <a:prstGeom prst="rect">
            <a:avLst/>
          </a:prstGeom>
          <a:noFill/>
        </p:spPr>
        <p:txBody>
          <a:bodyPr wrap="square"/>
          <a:lstStyle/>
          <a:p>
            <a:pPr algn="l"/>
            <a:r>
              <a:rPr sz="1400" b="1" i="0">
                <a:solidFill>
                  <a:srgbClr val="0D9276"/>
                </a:solidFill>
                <a:latin typeface="Calibri"/>
              </a:rPr>
              <a:t>📈  Waste Generation Prediction</a:t>
            </a:r>
          </a:p>
        </p:txBody>
      </p:sp>
      <p:sp>
        <p:nvSpPr>
          <p:cNvPr id="8" name="TextBox 7"/>
          <p:cNvSpPr txBox="1"/>
          <p:nvPr/>
        </p:nvSpPr>
        <p:spPr>
          <a:xfrm>
            <a:off x="822960" y="1664208"/>
            <a:ext cx="10607040" cy="658368"/>
          </a:xfrm>
          <a:prstGeom prst="rect">
            <a:avLst/>
          </a:prstGeom>
          <a:noFill/>
        </p:spPr>
        <p:txBody>
          <a:bodyPr wrap="square"/>
          <a:lstStyle/>
          <a:p>
            <a:pPr algn="l"/>
            <a:r>
              <a:rPr sz="1200" b="0" i="0">
                <a:solidFill>
                  <a:srgbClr val="2C3E50"/>
                </a:solidFill>
                <a:latin typeface="Calibri"/>
              </a:rPr>
              <a:t>NumPy linear regression on 30-day historical data per waste type. Confidence scoring via coefficient of variation (high / medium / low). Trend analysis: increasing / stable / decreasing per material.</a:t>
            </a:r>
          </a:p>
        </p:txBody>
      </p:sp>
      <p:sp>
        <p:nvSpPr>
          <p:cNvPr id="9" name="Rectangle 8"/>
          <p:cNvSpPr/>
          <p:nvPr/>
        </p:nvSpPr>
        <p:spPr>
          <a:xfrm>
            <a:off x="731520" y="2487168"/>
            <a:ext cx="10789920" cy="1115568"/>
          </a:xfrm>
          <a:prstGeom prst="rect">
            <a:avLst/>
          </a:prstGeom>
          <a:solidFill>
            <a:srgbClr val="F2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532888"/>
            <a:ext cx="10607040" cy="347472"/>
          </a:xfrm>
          <a:prstGeom prst="rect">
            <a:avLst/>
          </a:prstGeom>
          <a:noFill/>
        </p:spPr>
        <p:txBody>
          <a:bodyPr wrap="square"/>
          <a:lstStyle/>
          <a:p>
            <a:pPr algn="l"/>
            <a:r>
              <a:rPr sz="1400" b="1" i="0">
                <a:solidFill>
                  <a:srgbClr val="0D9276"/>
                </a:solidFill>
                <a:latin typeface="Calibri"/>
              </a:rPr>
              <a:t>📅  Optimal Collection Scheduling</a:t>
            </a:r>
          </a:p>
        </p:txBody>
      </p:sp>
      <p:sp>
        <p:nvSpPr>
          <p:cNvPr id="11" name="TextBox 10"/>
          <p:cNvSpPr txBox="1"/>
          <p:nvPr/>
        </p:nvSpPr>
        <p:spPr>
          <a:xfrm>
            <a:off x="822960" y="2871216"/>
            <a:ext cx="10607040" cy="658368"/>
          </a:xfrm>
          <a:prstGeom prst="rect">
            <a:avLst/>
          </a:prstGeom>
          <a:noFill/>
        </p:spPr>
        <p:txBody>
          <a:bodyPr wrap="square"/>
          <a:lstStyle/>
          <a:p>
            <a:pPr algn="l"/>
            <a:r>
              <a:rPr sz="1200" b="0" i="0">
                <a:solidFill>
                  <a:srgbClr val="2C3E50"/>
                </a:solidFill>
                <a:latin typeface="Calibri"/>
              </a:rPr>
              <a:t>Days-to-threshold calculation per waste type based on regression slope. Automatic scheduling suggestions triggered when predicted fill date approaches.</a:t>
            </a:r>
          </a:p>
        </p:txBody>
      </p:sp>
      <p:sp>
        <p:nvSpPr>
          <p:cNvPr id="12" name="Rectangle 11"/>
          <p:cNvSpPr/>
          <p:nvPr/>
        </p:nvSpPr>
        <p:spPr>
          <a:xfrm>
            <a:off x="731520" y="3694176"/>
            <a:ext cx="10789920" cy="1115568"/>
          </a:xfrm>
          <a:prstGeom prst="rect">
            <a:avLst/>
          </a:prstGeom>
          <a:solidFill>
            <a:srgbClr val="F2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739896"/>
            <a:ext cx="10607040" cy="347472"/>
          </a:xfrm>
          <a:prstGeom prst="rect">
            <a:avLst/>
          </a:prstGeom>
          <a:noFill/>
        </p:spPr>
        <p:txBody>
          <a:bodyPr wrap="square"/>
          <a:lstStyle/>
          <a:p>
            <a:pPr algn="l"/>
            <a:r>
              <a:rPr sz="1400" b="1" i="0">
                <a:solidFill>
                  <a:srgbClr val="0D9276"/>
                </a:solidFill>
                <a:latin typeface="Calibri"/>
              </a:rPr>
              <a:t>👥  User Engagement Insights</a:t>
            </a:r>
          </a:p>
        </p:txBody>
      </p:sp>
      <p:sp>
        <p:nvSpPr>
          <p:cNvPr id="14" name="TextBox 13"/>
          <p:cNvSpPr txBox="1"/>
          <p:nvPr/>
        </p:nvSpPr>
        <p:spPr>
          <a:xfrm>
            <a:off x="822960" y="4078224"/>
            <a:ext cx="10607040" cy="658368"/>
          </a:xfrm>
          <a:prstGeom prst="rect">
            <a:avLst/>
          </a:prstGeom>
          <a:noFill/>
        </p:spPr>
        <p:txBody>
          <a:bodyPr wrap="square"/>
          <a:lstStyle/>
          <a:p>
            <a:pPr algn="l"/>
            <a:r>
              <a:rPr sz="1200" b="0" i="0">
                <a:solidFill>
                  <a:srgbClr val="2C3E50"/>
                </a:solidFill>
                <a:latin typeface="Calibri"/>
              </a:rPr>
              <a:t>Peak activity hours / days, retention rate, weekly &amp; monthly active users. Engagement heatmaps and classification frequency tracking.</a:t>
            </a:r>
          </a:p>
        </p:txBody>
      </p:sp>
      <p:sp>
        <p:nvSpPr>
          <p:cNvPr id="15" name="Rectangle 14"/>
          <p:cNvSpPr/>
          <p:nvPr/>
        </p:nvSpPr>
        <p:spPr>
          <a:xfrm>
            <a:off x="731520" y="4901184"/>
            <a:ext cx="10789920" cy="1115568"/>
          </a:xfrm>
          <a:prstGeom prst="rect">
            <a:avLst/>
          </a:prstGeom>
          <a:solidFill>
            <a:srgbClr val="F2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4946904"/>
            <a:ext cx="10607040" cy="347472"/>
          </a:xfrm>
          <a:prstGeom prst="rect">
            <a:avLst/>
          </a:prstGeom>
          <a:noFill/>
        </p:spPr>
        <p:txBody>
          <a:bodyPr wrap="square"/>
          <a:lstStyle/>
          <a:p>
            <a:pPr algn="l"/>
            <a:r>
              <a:rPr sz="1400" b="1" i="0">
                <a:solidFill>
                  <a:srgbClr val="0D9276"/>
                </a:solidFill>
                <a:latin typeface="Calibri"/>
              </a:rPr>
              <a:t>🌱  Environmental Impact Forecasting</a:t>
            </a:r>
          </a:p>
        </p:txBody>
      </p:sp>
      <p:sp>
        <p:nvSpPr>
          <p:cNvPr id="17" name="TextBox 16"/>
          <p:cNvSpPr txBox="1"/>
          <p:nvPr/>
        </p:nvSpPr>
        <p:spPr>
          <a:xfrm>
            <a:off x="822960" y="5285232"/>
            <a:ext cx="10607040" cy="658368"/>
          </a:xfrm>
          <a:prstGeom prst="rect">
            <a:avLst/>
          </a:prstGeom>
          <a:noFill/>
        </p:spPr>
        <p:txBody>
          <a:bodyPr wrap="square"/>
          <a:lstStyle/>
          <a:p>
            <a:pPr algn="l"/>
            <a:r>
              <a:rPr sz="1200" b="0" i="0">
                <a:solidFill>
                  <a:srgbClr val="2C3E50"/>
                </a:solidFill>
                <a:latin typeface="Calibri"/>
              </a:rPr>
              <a:t>Projects CO₂ saved, trees equivalent (÷22 kg CO₂/tree), energy saved (×2.5 kWh/kg), water saved (×15 L/kg) over time.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Hardware &amp; Software Requirements</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5029200" cy="411480"/>
          </a:xfrm>
          <a:prstGeom prst="rect">
            <a:avLst/>
          </a:prstGeom>
          <a:noFill/>
        </p:spPr>
        <p:txBody>
          <a:bodyPr wrap="square"/>
          <a:lstStyle/>
          <a:p>
            <a:pPr algn="l"/>
            <a:r>
              <a:rPr sz="1500" b="1" i="0">
                <a:solidFill>
                  <a:srgbClr val="2C3E50"/>
                </a:solidFill>
                <a:latin typeface="Calibri"/>
              </a:rPr>
              <a:t>⚙️  Hardware Requirements</a:t>
            </a:r>
          </a:p>
        </p:txBody>
      </p:sp>
      <p:sp>
        <p:nvSpPr>
          <p:cNvPr id="7" name="TextBox 6"/>
          <p:cNvSpPr txBox="1"/>
          <p:nvPr/>
        </p:nvSpPr>
        <p:spPr>
          <a:xfrm>
            <a:off x="731520" y="1828800"/>
            <a:ext cx="5120640" cy="4206240"/>
          </a:xfrm>
          <a:prstGeom prst="rect">
            <a:avLst/>
          </a:prstGeom>
          <a:noFill/>
        </p:spPr>
        <p:txBody>
          <a:bodyPr wrap="square"/>
          <a:lstStyle/>
          <a:p>
            <a:pPr algn="l"/>
            <a:r>
              <a:rPr sz="1200" b="0">
                <a:solidFill>
                  <a:srgbClr val="2C3E50"/>
                </a:solidFill>
                <a:latin typeface="Calibri"/>
              </a:rPr>
              <a:t>▪  Development Machine: 8GB+ RAM, i5+ processor</a:t>
            </a:r>
          </a:p>
          <a:p>
            <a:pPr algn="l"/>
            <a:r>
              <a:rPr sz="1200" b="0">
                <a:solidFill>
                  <a:srgbClr val="2C3E50"/>
                </a:solidFill>
                <a:latin typeface="Calibri"/>
              </a:rPr>
              <a:t>▪  Smartphone with camera (Android / iOS)</a:t>
            </a:r>
          </a:p>
          <a:p>
            <a:pPr algn="l"/>
            <a:r>
              <a:rPr sz="1200" b="0">
                <a:solidFill>
                  <a:srgbClr val="2C3E50"/>
                </a:solidFill>
                <a:latin typeface="Calibri"/>
              </a:rPr>
              <a:t>▪  Internet Connectivity: Broadband / 4G LTE</a:t>
            </a:r>
          </a:p>
          <a:p>
            <a:pPr algn="l"/>
            <a:r>
              <a:rPr sz="1200" b="0">
                <a:solidFill>
                  <a:srgbClr val="2C3E50"/>
                </a:solidFill>
                <a:latin typeface="Calibri"/>
              </a:rPr>
              <a:t>▪  HC-SR04 Ultrasonic Sensor</a:t>
            </a:r>
          </a:p>
          <a:p>
            <a:pPr algn="l"/>
            <a:r>
              <a:rPr sz="1200" b="0">
                <a:solidFill>
                  <a:srgbClr val="2C3E50"/>
                </a:solidFill>
                <a:latin typeface="Calibri"/>
              </a:rPr>
              <a:t>▪  ESP32 DevKit V1 Microcontroller</a:t>
            </a:r>
          </a:p>
          <a:p>
            <a:pPr algn="l"/>
            <a:r>
              <a:rPr sz="1200" b="0">
                <a:solidFill>
                  <a:srgbClr val="2C3E50"/>
                </a:solidFill>
                <a:latin typeface="Calibri"/>
              </a:rPr>
              <a:t>▪  1kΩ + 2kΩ resistors (voltage divider for ECHO pin)</a:t>
            </a:r>
          </a:p>
          <a:p>
            <a:pPr algn="l"/>
            <a:r>
              <a:rPr sz="1200" b="0">
                <a:solidFill>
                  <a:srgbClr val="2C3E50"/>
                </a:solidFill>
                <a:latin typeface="Calibri"/>
              </a:rPr>
              <a:t>▪  5V USB power supply</a:t>
            </a:r>
          </a:p>
          <a:p>
            <a:pPr algn="l"/>
            <a:r>
              <a:rPr sz="1200" b="0">
                <a:solidFill>
                  <a:srgbClr val="2C3E50"/>
                </a:solidFill>
                <a:latin typeface="Calibri"/>
              </a:rPr>
              <a:t>▪  Cloud: Render + Vercel + Neon (DB)</a:t>
            </a:r>
          </a:p>
        </p:txBody>
      </p:sp>
      <p:sp>
        <p:nvSpPr>
          <p:cNvPr id="8" name="TextBox 7"/>
          <p:cNvSpPr txBox="1"/>
          <p:nvPr/>
        </p:nvSpPr>
        <p:spPr>
          <a:xfrm>
            <a:off x="6400800" y="1371600"/>
            <a:ext cx="5029200" cy="411480"/>
          </a:xfrm>
          <a:prstGeom prst="rect">
            <a:avLst/>
          </a:prstGeom>
          <a:noFill/>
        </p:spPr>
        <p:txBody>
          <a:bodyPr wrap="square"/>
          <a:lstStyle/>
          <a:p>
            <a:pPr algn="l"/>
            <a:r>
              <a:rPr sz="1500" b="1" i="0">
                <a:solidFill>
                  <a:srgbClr val="2C3E50"/>
                </a:solidFill>
                <a:latin typeface="Calibri"/>
              </a:rPr>
              <a:t>💻  Software Requirements</a:t>
            </a:r>
          </a:p>
        </p:txBody>
      </p:sp>
      <p:sp>
        <p:nvSpPr>
          <p:cNvPr id="9" name="TextBox 8"/>
          <p:cNvSpPr txBox="1"/>
          <p:nvPr/>
        </p:nvSpPr>
        <p:spPr>
          <a:xfrm>
            <a:off x="6400800" y="1828800"/>
            <a:ext cx="5303520" cy="4206240"/>
          </a:xfrm>
          <a:prstGeom prst="rect">
            <a:avLst/>
          </a:prstGeom>
          <a:noFill/>
        </p:spPr>
        <p:txBody>
          <a:bodyPr wrap="square"/>
          <a:lstStyle/>
          <a:p>
            <a:pPr algn="l"/>
            <a:r>
              <a:rPr sz="1200" b="0">
                <a:solidFill>
                  <a:srgbClr val="2C3E50"/>
                </a:solidFill>
                <a:latin typeface="Calibri"/>
              </a:rPr>
              <a:t>▪  Frontend: React 18, Tailwind CSS, Leaflet.js, Recharts, Lucide Icons</a:t>
            </a:r>
          </a:p>
          <a:p>
            <a:pPr algn="l"/>
            <a:r>
              <a:rPr sz="1200" b="0">
                <a:solidFill>
                  <a:srgbClr val="2C3E50"/>
                </a:solidFill>
                <a:latin typeface="Calibri"/>
              </a:rPr>
              <a:t>▪  Backend: Python 3.10, Flask, Flask-JWT-Extended, psycopg2</a:t>
            </a:r>
          </a:p>
          <a:p>
            <a:pPr algn="l"/>
            <a:r>
              <a:rPr sz="1200" b="0">
                <a:solidFill>
                  <a:srgbClr val="2C3E50"/>
                </a:solidFill>
                <a:latin typeface="Calibri"/>
              </a:rPr>
              <a:t>▪  Database: PostgreSQL (Neon serverless)</a:t>
            </a:r>
          </a:p>
          <a:p>
            <a:pPr algn="l"/>
            <a:r>
              <a:rPr sz="1200" b="0">
                <a:solidFill>
                  <a:srgbClr val="2C3E50"/>
                </a:solidFill>
                <a:latin typeface="Calibri"/>
              </a:rPr>
              <a:t>▪  AI: Google Gemini 2.5 Flash API</a:t>
            </a:r>
          </a:p>
          <a:p>
            <a:pPr algn="l"/>
            <a:r>
              <a:rPr sz="1200" b="0">
                <a:solidFill>
                  <a:srgbClr val="2C3E50"/>
                </a:solidFill>
                <a:latin typeface="Calibri"/>
              </a:rPr>
              <a:t>▪  IoT Firmware: Arduino IDE (ESP32 board support)</a:t>
            </a:r>
          </a:p>
          <a:p>
            <a:pPr algn="l"/>
            <a:r>
              <a:rPr sz="1200" b="0">
                <a:solidFill>
                  <a:srgbClr val="2C3E50"/>
                </a:solidFill>
                <a:latin typeface="Calibri"/>
              </a:rPr>
              <a:t>▪  Deployment: Vercel, Render, Gunicorn WSGI</a:t>
            </a:r>
          </a:p>
          <a:p>
            <a:pPr algn="l"/>
            <a:r>
              <a:rPr sz="1200" b="0">
                <a:solidFill>
                  <a:srgbClr val="2C3E50"/>
                </a:solidFill>
                <a:latin typeface="Calibri"/>
              </a:rPr>
              <a:t>▪  Version Control: Git &amp; GitHub</a:t>
            </a:r>
          </a:p>
          <a:p>
            <a:pPr algn="l"/>
            <a:r>
              <a:rPr sz="1200" b="0">
                <a:solidFill>
                  <a:srgbClr val="2C3E50"/>
                </a:solidFill>
                <a:latin typeface="Calibri"/>
              </a:rPr>
              <a:t>▪  IDE: VS Code</a:t>
            </a:r>
          </a:p>
        </p:txBody>
      </p:sp>
      <p:sp>
        <p:nvSpPr>
          <p:cNvPr id="10" name="Rectangle 9"/>
          <p:cNvSpPr/>
          <p:nvPr/>
        </p:nvSpPr>
        <p:spPr>
          <a:xfrm>
            <a:off x="6035040" y="1371600"/>
            <a:ext cx="36576" cy="420624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Deployment Architecture</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789920" cy="365760"/>
          </a:xfrm>
          <a:prstGeom prst="rect">
            <a:avLst/>
          </a:prstGeom>
          <a:noFill/>
        </p:spPr>
        <p:txBody>
          <a:bodyPr wrap="square"/>
          <a:lstStyle/>
          <a:p>
            <a:pPr algn="l"/>
            <a:r>
              <a:rPr sz="1400" b="1" i="0">
                <a:solidFill>
                  <a:srgbClr val="0D9276"/>
                </a:solidFill>
                <a:latin typeface="Calibri"/>
              </a:rPr>
              <a:t>☁️  Production Stack</a:t>
            </a:r>
          </a:p>
        </p:txBody>
      </p:sp>
      <p:sp>
        <p:nvSpPr>
          <p:cNvPr id="7" name="TextBox 6"/>
          <p:cNvSpPr txBox="1"/>
          <p:nvPr/>
        </p:nvSpPr>
        <p:spPr>
          <a:xfrm>
            <a:off x="731520" y="1691640"/>
            <a:ext cx="10789920" cy="347472"/>
          </a:xfrm>
          <a:prstGeom prst="rect">
            <a:avLst/>
          </a:prstGeom>
          <a:noFill/>
        </p:spPr>
        <p:txBody>
          <a:bodyPr wrap="square"/>
          <a:lstStyle/>
          <a:p>
            <a:pPr algn="l"/>
            <a:r>
              <a:rPr sz="1300" b="0" i="0">
                <a:solidFill>
                  <a:srgbClr val="2C3E50"/>
                </a:solidFill>
                <a:latin typeface="Calibri"/>
              </a:rPr>
              <a:t>Frontend  →  Vercel (auto-deploy from main branch, global CDN)</a:t>
            </a:r>
          </a:p>
        </p:txBody>
      </p:sp>
      <p:sp>
        <p:nvSpPr>
          <p:cNvPr id="8" name="TextBox 7"/>
          <p:cNvSpPr txBox="1"/>
          <p:nvPr/>
        </p:nvSpPr>
        <p:spPr>
          <a:xfrm>
            <a:off x="731520" y="2075688"/>
            <a:ext cx="10789920" cy="347472"/>
          </a:xfrm>
          <a:prstGeom prst="rect">
            <a:avLst/>
          </a:prstGeom>
          <a:noFill/>
        </p:spPr>
        <p:txBody>
          <a:bodyPr wrap="square"/>
          <a:lstStyle/>
          <a:p>
            <a:pPr algn="l"/>
            <a:r>
              <a:rPr sz="1300" b="0" i="0">
                <a:solidFill>
                  <a:srgbClr val="2C3E50"/>
                </a:solidFill>
                <a:latin typeface="Calibri"/>
              </a:rPr>
              <a:t>Backend   →  Render (Gunicorn WSGI, auto-deploy on push)</a:t>
            </a:r>
          </a:p>
        </p:txBody>
      </p:sp>
      <p:sp>
        <p:nvSpPr>
          <p:cNvPr id="9" name="TextBox 8"/>
          <p:cNvSpPr txBox="1"/>
          <p:nvPr/>
        </p:nvSpPr>
        <p:spPr>
          <a:xfrm>
            <a:off x="731520" y="2459736"/>
            <a:ext cx="10789920" cy="347472"/>
          </a:xfrm>
          <a:prstGeom prst="rect">
            <a:avLst/>
          </a:prstGeom>
          <a:noFill/>
        </p:spPr>
        <p:txBody>
          <a:bodyPr wrap="square"/>
          <a:lstStyle/>
          <a:p>
            <a:pPr algn="l"/>
            <a:r>
              <a:rPr sz="1300" b="0" i="0">
                <a:solidFill>
                  <a:srgbClr val="2C3E50"/>
                </a:solidFill>
                <a:latin typeface="Calibri"/>
              </a:rPr>
              <a:t>Database  →  Neon PostgreSQL (serverless, connection pooling, auto-scaling)</a:t>
            </a:r>
          </a:p>
        </p:txBody>
      </p:sp>
      <p:sp>
        <p:nvSpPr>
          <p:cNvPr id="10" name="TextBox 9"/>
          <p:cNvSpPr txBox="1"/>
          <p:nvPr/>
        </p:nvSpPr>
        <p:spPr>
          <a:xfrm>
            <a:off x="731520" y="2926080"/>
            <a:ext cx="10789920" cy="365760"/>
          </a:xfrm>
          <a:prstGeom prst="rect">
            <a:avLst/>
          </a:prstGeom>
          <a:noFill/>
        </p:spPr>
        <p:txBody>
          <a:bodyPr wrap="square"/>
          <a:lstStyle/>
          <a:p>
            <a:pPr algn="l"/>
            <a:r>
              <a:rPr sz="1400" b="1" i="0">
                <a:solidFill>
                  <a:srgbClr val="0D9276"/>
                </a:solidFill>
                <a:latin typeface="Calibri"/>
              </a:rPr>
              <a:t>🐳  Self-Hosting (Docker Compose)</a:t>
            </a:r>
          </a:p>
        </p:txBody>
      </p:sp>
      <p:sp>
        <p:nvSpPr>
          <p:cNvPr id="11" name="TextBox 10"/>
          <p:cNvSpPr txBox="1"/>
          <p:nvPr/>
        </p:nvSpPr>
        <p:spPr>
          <a:xfrm>
            <a:off x="731520" y="3337560"/>
            <a:ext cx="10789920" cy="365760"/>
          </a:xfrm>
          <a:prstGeom prst="rect">
            <a:avLst/>
          </a:prstGeom>
          <a:noFill/>
        </p:spPr>
        <p:txBody>
          <a:bodyPr wrap="square"/>
          <a:lstStyle/>
          <a:p>
            <a:pPr algn="l"/>
            <a:r>
              <a:rPr sz="1300" b="0" i="0">
                <a:solidFill>
                  <a:srgbClr val="2C3E50"/>
                </a:solidFill>
                <a:latin typeface="Calibri"/>
              </a:rPr>
              <a:t>Nginx + Flask (2 replicas) + React + PostgreSQL 15 + Redis 7 + Prometheus + Grafana</a:t>
            </a:r>
          </a:p>
        </p:txBody>
      </p:sp>
      <p:sp>
        <p:nvSpPr>
          <p:cNvPr id="12" name="TextBox 11"/>
          <p:cNvSpPr txBox="1"/>
          <p:nvPr/>
        </p:nvSpPr>
        <p:spPr>
          <a:xfrm>
            <a:off x="731520" y="3840480"/>
            <a:ext cx="10789920" cy="365760"/>
          </a:xfrm>
          <a:prstGeom prst="rect">
            <a:avLst/>
          </a:prstGeom>
          <a:noFill/>
        </p:spPr>
        <p:txBody>
          <a:bodyPr wrap="square"/>
          <a:lstStyle/>
          <a:p>
            <a:pPr algn="l"/>
            <a:r>
              <a:rPr sz="1400" b="1" i="0">
                <a:solidFill>
                  <a:srgbClr val="0D9276"/>
                </a:solidFill>
                <a:latin typeface="Calibri"/>
              </a:rPr>
              <a:t>🔐  Security Measures</a:t>
            </a:r>
          </a:p>
        </p:txBody>
      </p:sp>
      <p:sp>
        <p:nvSpPr>
          <p:cNvPr id="13" name="TextBox 12"/>
          <p:cNvSpPr txBox="1"/>
          <p:nvPr/>
        </p:nvSpPr>
        <p:spPr>
          <a:xfrm>
            <a:off x="731520" y="4251960"/>
            <a:ext cx="10789920" cy="2194560"/>
          </a:xfrm>
          <a:prstGeom prst="rect">
            <a:avLst/>
          </a:prstGeom>
          <a:noFill/>
        </p:spPr>
        <p:txBody>
          <a:bodyPr wrap="square"/>
          <a:lstStyle/>
          <a:p>
            <a:pPr algn="l"/>
            <a:r>
              <a:rPr sz="1300" b="0">
                <a:solidFill>
                  <a:srgbClr val="2C3E50"/>
                </a:solidFill>
                <a:latin typeface="Calibri"/>
              </a:rPr>
              <a:t>JWT authentication (24hr expiry) + role-based route protection</a:t>
            </a:r>
          </a:p>
          <a:p>
            <a:pPr algn="l"/>
            <a:r>
              <a:rPr sz="1300" b="0">
                <a:solidFill>
                  <a:srgbClr val="2C3E50"/>
                </a:solidFill>
                <a:latin typeface="Calibri"/>
              </a:rPr>
              <a:t>bcrypt password hashing for all user credentials</a:t>
            </a:r>
          </a:p>
          <a:p>
            <a:pPr algn="l"/>
            <a:r>
              <a:rPr sz="1300" b="0">
                <a:solidFill>
                  <a:srgbClr val="2C3E50"/>
                </a:solidFill>
                <a:latin typeface="Calibri"/>
              </a:rPr>
              <a:t>Debug routes gated behind FLASK_DEBUG environment flag</a:t>
            </a:r>
          </a:p>
          <a:p>
            <a:pPr algn="l"/>
            <a:r>
              <a:rPr sz="1300" b="0">
                <a:solidFill>
                  <a:srgbClr val="2C3E50"/>
                </a:solidFill>
                <a:latin typeface="Calibri"/>
              </a:rPr>
              <a:t>Production config validation (raises error if env vars missing)</a:t>
            </a:r>
          </a:p>
          <a:p>
            <a:pPr algn="l"/>
            <a:r>
              <a:rPr sz="1300" b="0">
                <a:solidFill>
                  <a:srgbClr val="2C3E50"/>
                </a:solidFill>
                <a:latin typeface="Calibri"/>
              </a:rPr>
              <a:t>IoT API key authentication (X-IoT-API-Key header)</a:t>
            </a:r>
          </a:p>
          <a:p>
            <a:pPr algn="l"/>
            <a:r>
              <a:rPr sz="1300" b="0">
                <a:solidFill>
                  <a:srgbClr val="2C3E50"/>
                </a:solidFill>
                <a:latin typeface="Calibri"/>
              </a:rPr>
              <a:t>CORS configuration + HTTPS encryption on all endpoints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Results &amp; Testing</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10789920" cy="658368"/>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325880"/>
            <a:ext cx="2377440" cy="329184"/>
          </a:xfrm>
          <a:prstGeom prst="rect">
            <a:avLst/>
          </a:prstGeom>
          <a:noFill/>
        </p:spPr>
        <p:txBody>
          <a:bodyPr wrap="square"/>
          <a:lstStyle/>
          <a:p>
            <a:pPr algn="l"/>
            <a:r>
              <a:rPr sz="1300" b="1" i="0">
                <a:solidFill>
                  <a:srgbClr val="0D9276"/>
                </a:solidFill>
                <a:latin typeface="Calibri"/>
              </a:rPr>
              <a:t>🌐  Live Deployment</a:t>
            </a:r>
          </a:p>
        </p:txBody>
      </p:sp>
      <p:sp>
        <p:nvSpPr>
          <p:cNvPr id="8" name="TextBox 7"/>
          <p:cNvSpPr txBox="1"/>
          <p:nvPr/>
        </p:nvSpPr>
        <p:spPr>
          <a:xfrm>
            <a:off x="3291840" y="1325880"/>
            <a:ext cx="8046720" cy="566928"/>
          </a:xfrm>
          <a:prstGeom prst="rect">
            <a:avLst/>
          </a:prstGeom>
          <a:noFill/>
        </p:spPr>
        <p:txBody>
          <a:bodyPr wrap="square"/>
          <a:lstStyle/>
          <a:p>
            <a:pPr algn="l"/>
            <a:r>
              <a:rPr sz="1200" b="0" i="0">
                <a:solidFill>
                  <a:srgbClr val="2C3E50"/>
                </a:solidFill>
                <a:latin typeface="Calibri"/>
              </a:rPr>
              <a:t>smartwaste360-frontend.vercel.app  |  smartwaste360-backend.onrender.com</a:t>
            </a:r>
          </a:p>
        </p:txBody>
      </p:sp>
      <p:sp>
        <p:nvSpPr>
          <p:cNvPr id="9" name="Rectangle 8"/>
          <p:cNvSpPr/>
          <p:nvPr/>
        </p:nvSpPr>
        <p:spPr>
          <a:xfrm>
            <a:off x="731520" y="1993392"/>
            <a:ext cx="10789920" cy="658368"/>
          </a:xfrm>
          <a:prstGeom prst="rect">
            <a:avLst/>
          </a:prstGeom>
          <a:solidFill>
            <a:srgbClr val="F9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039112"/>
            <a:ext cx="2377440" cy="329184"/>
          </a:xfrm>
          <a:prstGeom prst="rect">
            <a:avLst/>
          </a:prstGeom>
          <a:noFill/>
        </p:spPr>
        <p:txBody>
          <a:bodyPr wrap="square"/>
          <a:lstStyle/>
          <a:p>
            <a:pPr algn="l"/>
            <a:r>
              <a:rPr sz="1300" b="1" i="0">
                <a:solidFill>
                  <a:srgbClr val="0D9276"/>
                </a:solidFill>
                <a:latin typeface="Calibri"/>
              </a:rPr>
              <a:t>🔌  API Coverage</a:t>
            </a:r>
          </a:p>
        </p:txBody>
      </p:sp>
      <p:sp>
        <p:nvSpPr>
          <p:cNvPr id="11" name="TextBox 10"/>
          <p:cNvSpPr txBox="1"/>
          <p:nvPr/>
        </p:nvSpPr>
        <p:spPr>
          <a:xfrm>
            <a:off x="3291840" y="2039112"/>
            <a:ext cx="8046720" cy="566928"/>
          </a:xfrm>
          <a:prstGeom prst="rect">
            <a:avLst/>
          </a:prstGeom>
          <a:noFill/>
        </p:spPr>
        <p:txBody>
          <a:bodyPr wrap="square"/>
          <a:lstStyle/>
          <a:p>
            <a:pPr algn="l"/>
            <a:r>
              <a:rPr sz="1200" b="0" i="0">
                <a:solidFill>
                  <a:srgbClr val="2C3E50"/>
                </a:solidFill>
                <a:latin typeface="Calibri"/>
              </a:rPr>
              <a:t>14 API Blueprints registered and functional across all role-based routes</a:t>
            </a:r>
          </a:p>
        </p:txBody>
      </p:sp>
      <p:sp>
        <p:nvSpPr>
          <p:cNvPr id="12" name="Rectangle 11"/>
          <p:cNvSpPr/>
          <p:nvPr/>
        </p:nvSpPr>
        <p:spPr>
          <a:xfrm>
            <a:off x="731520" y="2706624"/>
            <a:ext cx="10789920" cy="658368"/>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2752344"/>
            <a:ext cx="2377440" cy="329184"/>
          </a:xfrm>
          <a:prstGeom prst="rect">
            <a:avLst/>
          </a:prstGeom>
          <a:noFill/>
        </p:spPr>
        <p:txBody>
          <a:bodyPr wrap="square"/>
          <a:lstStyle/>
          <a:p>
            <a:pPr algn="l"/>
            <a:r>
              <a:rPr sz="1300" b="1" i="0">
                <a:solidFill>
                  <a:srgbClr val="0D9276"/>
                </a:solidFill>
                <a:latin typeface="Calibri"/>
              </a:rPr>
              <a:t>📱  Frontend Pages</a:t>
            </a:r>
          </a:p>
        </p:txBody>
      </p:sp>
      <p:sp>
        <p:nvSpPr>
          <p:cNvPr id="14" name="TextBox 13"/>
          <p:cNvSpPr txBox="1"/>
          <p:nvPr/>
        </p:nvSpPr>
        <p:spPr>
          <a:xfrm>
            <a:off x="3291840" y="2752344"/>
            <a:ext cx="8046720" cy="566928"/>
          </a:xfrm>
          <a:prstGeom prst="rect">
            <a:avLst/>
          </a:prstGeom>
          <a:noFill/>
        </p:spPr>
        <p:txBody>
          <a:bodyPr wrap="square"/>
          <a:lstStyle/>
          <a:p>
            <a:pPr algn="l"/>
            <a:r>
              <a:rPr sz="1200" b="0" i="0">
                <a:solidFill>
                  <a:srgbClr val="2C3E50"/>
                </a:solidFill>
                <a:latin typeface="Calibri"/>
              </a:rPr>
              <a:t>20 page components with role-based access control (User / Collector / Admin)</a:t>
            </a:r>
          </a:p>
        </p:txBody>
      </p:sp>
      <p:sp>
        <p:nvSpPr>
          <p:cNvPr id="15" name="Rectangle 14"/>
          <p:cNvSpPr/>
          <p:nvPr/>
        </p:nvSpPr>
        <p:spPr>
          <a:xfrm>
            <a:off x="731520" y="3419856"/>
            <a:ext cx="10789920" cy="658368"/>
          </a:xfrm>
          <a:prstGeom prst="rect">
            <a:avLst/>
          </a:prstGeom>
          <a:solidFill>
            <a:srgbClr val="F9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465576"/>
            <a:ext cx="2377440" cy="329184"/>
          </a:xfrm>
          <a:prstGeom prst="rect">
            <a:avLst/>
          </a:prstGeom>
          <a:noFill/>
        </p:spPr>
        <p:txBody>
          <a:bodyPr wrap="square"/>
          <a:lstStyle/>
          <a:p>
            <a:pPr algn="l"/>
            <a:r>
              <a:rPr sz="1300" b="1" i="0">
                <a:solidFill>
                  <a:srgbClr val="0D9276"/>
                </a:solidFill>
                <a:latin typeface="Calibri"/>
              </a:rPr>
              <a:t>📡  IoT Pipeline</a:t>
            </a:r>
          </a:p>
        </p:txBody>
      </p:sp>
      <p:sp>
        <p:nvSpPr>
          <p:cNvPr id="17" name="TextBox 16"/>
          <p:cNvSpPr txBox="1"/>
          <p:nvPr/>
        </p:nvSpPr>
        <p:spPr>
          <a:xfrm>
            <a:off x="3291840" y="3465576"/>
            <a:ext cx="8046720" cy="566928"/>
          </a:xfrm>
          <a:prstGeom prst="rect">
            <a:avLst/>
          </a:prstGeom>
          <a:noFill/>
        </p:spPr>
        <p:txBody>
          <a:bodyPr wrap="square"/>
          <a:lstStyle/>
          <a:p>
            <a:pPr algn="l"/>
            <a:r>
              <a:rPr sz="1200" b="0" i="0">
                <a:solidFill>
                  <a:srgbClr val="2C3E50"/>
                </a:solidFill>
                <a:latin typeface="Calibri"/>
              </a:rPr>
              <a:t>ESP32 → Backend → Live Dashboard tested end-to-end (5-second polling interval)</a:t>
            </a:r>
          </a:p>
        </p:txBody>
      </p:sp>
      <p:sp>
        <p:nvSpPr>
          <p:cNvPr id="18" name="Rectangle 17"/>
          <p:cNvSpPr/>
          <p:nvPr/>
        </p:nvSpPr>
        <p:spPr>
          <a:xfrm>
            <a:off x="731520" y="4133088"/>
            <a:ext cx="10789920" cy="658368"/>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178808"/>
            <a:ext cx="2377440" cy="329184"/>
          </a:xfrm>
          <a:prstGeom prst="rect">
            <a:avLst/>
          </a:prstGeom>
          <a:noFill/>
        </p:spPr>
        <p:txBody>
          <a:bodyPr wrap="square"/>
          <a:lstStyle/>
          <a:p>
            <a:pPr algn="l"/>
            <a:r>
              <a:rPr sz="1300" b="1" i="0">
                <a:solidFill>
                  <a:srgbClr val="0D9276"/>
                </a:solidFill>
                <a:latin typeface="Calibri"/>
              </a:rPr>
              <a:t>🤖  AI Classification</a:t>
            </a:r>
          </a:p>
        </p:txBody>
      </p:sp>
      <p:sp>
        <p:nvSpPr>
          <p:cNvPr id="20" name="TextBox 19"/>
          <p:cNvSpPr txBox="1"/>
          <p:nvPr/>
        </p:nvSpPr>
        <p:spPr>
          <a:xfrm>
            <a:off x="3291840" y="4178808"/>
            <a:ext cx="8046720" cy="566928"/>
          </a:xfrm>
          <a:prstGeom prst="rect">
            <a:avLst/>
          </a:prstGeom>
          <a:noFill/>
        </p:spPr>
        <p:txBody>
          <a:bodyPr wrap="square"/>
          <a:lstStyle/>
          <a:p>
            <a:pPr algn="l"/>
            <a:r>
              <a:rPr sz="1200" b="0" i="0">
                <a:solidFill>
                  <a:srgbClr val="2C3E50"/>
                </a:solidFill>
                <a:latin typeface="Calibri"/>
              </a:rPr>
              <a:t>Gemini 2.5 Flash active with fallback mechanism for API failures</a:t>
            </a:r>
          </a:p>
        </p:txBody>
      </p:sp>
      <p:sp>
        <p:nvSpPr>
          <p:cNvPr id="21" name="Rectangle 20"/>
          <p:cNvSpPr/>
          <p:nvPr/>
        </p:nvSpPr>
        <p:spPr>
          <a:xfrm>
            <a:off x="731520" y="4846320"/>
            <a:ext cx="10789920" cy="658368"/>
          </a:xfrm>
          <a:prstGeom prst="rect">
            <a:avLst/>
          </a:prstGeom>
          <a:solidFill>
            <a:srgbClr val="F9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892040"/>
            <a:ext cx="2377440" cy="329184"/>
          </a:xfrm>
          <a:prstGeom prst="rect">
            <a:avLst/>
          </a:prstGeom>
          <a:noFill/>
        </p:spPr>
        <p:txBody>
          <a:bodyPr wrap="square"/>
          <a:lstStyle/>
          <a:p>
            <a:pPr algn="l"/>
            <a:r>
              <a:rPr sz="1300" b="1" i="0">
                <a:solidFill>
                  <a:srgbClr val="0D9276"/>
                </a:solidFill>
                <a:latin typeface="Calibri"/>
              </a:rPr>
              <a:t>🗄  Database</a:t>
            </a:r>
          </a:p>
        </p:txBody>
      </p:sp>
      <p:sp>
        <p:nvSpPr>
          <p:cNvPr id="23" name="TextBox 22"/>
          <p:cNvSpPr txBox="1"/>
          <p:nvPr/>
        </p:nvSpPr>
        <p:spPr>
          <a:xfrm>
            <a:off x="3291840" y="4892040"/>
            <a:ext cx="8046720" cy="566928"/>
          </a:xfrm>
          <a:prstGeom prst="rect">
            <a:avLst/>
          </a:prstGeom>
          <a:noFill/>
        </p:spPr>
        <p:txBody>
          <a:bodyPr wrap="square"/>
          <a:lstStyle/>
          <a:p>
            <a:pPr algn="l"/>
            <a:r>
              <a:rPr sz="1200" b="0" i="0">
                <a:solidFill>
                  <a:srgbClr val="2C3E50"/>
                </a:solidFill>
                <a:latin typeface="Calibri"/>
              </a:rPr>
              <a:t>10+ tables with triggers, views, indexes — Neon serverless PostgreSQL</a:t>
            </a:r>
          </a:p>
        </p:txBody>
      </p:sp>
      <p:sp>
        <p:nvSpPr>
          <p:cNvPr id="24" name="Rectangle 23"/>
          <p:cNvSpPr/>
          <p:nvPr/>
        </p:nvSpPr>
        <p:spPr>
          <a:xfrm>
            <a:off x="731520" y="5559552"/>
            <a:ext cx="10789920" cy="658368"/>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605272"/>
            <a:ext cx="2377440" cy="329184"/>
          </a:xfrm>
          <a:prstGeom prst="rect">
            <a:avLst/>
          </a:prstGeom>
          <a:noFill/>
        </p:spPr>
        <p:txBody>
          <a:bodyPr wrap="square"/>
          <a:lstStyle/>
          <a:p>
            <a:pPr algn="l"/>
            <a:r>
              <a:rPr sz="1300" b="1" i="0">
                <a:solidFill>
                  <a:srgbClr val="0D9276"/>
                </a:solidFill>
                <a:latin typeface="Calibri"/>
              </a:rPr>
              <a:t>🗺  Route Optimization</a:t>
            </a:r>
          </a:p>
        </p:txBody>
      </p:sp>
      <p:sp>
        <p:nvSpPr>
          <p:cNvPr id="26" name="TextBox 25"/>
          <p:cNvSpPr txBox="1"/>
          <p:nvPr/>
        </p:nvSpPr>
        <p:spPr>
          <a:xfrm>
            <a:off x="3291840" y="5605272"/>
            <a:ext cx="8046720" cy="566928"/>
          </a:xfrm>
          <a:prstGeom prst="rect">
            <a:avLst/>
          </a:prstGeom>
          <a:noFill/>
        </p:spPr>
        <p:txBody>
          <a:bodyPr wrap="square"/>
          <a:lstStyle/>
          <a:p>
            <a:pPr algn="l"/>
            <a:r>
              <a:rPr sz="1200" b="0" i="0">
                <a:solidFill>
                  <a:srgbClr val="2C3E50"/>
                </a:solidFill>
                <a:latin typeface="Calibri"/>
              </a:rPr>
              <a:t>TSP + 2-opt producing measurable distance savings vs naive sequential routing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Conclusion</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34440"/>
            <a:ext cx="10789920" cy="502920"/>
          </a:xfrm>
          <a:prstGeom prst="rect">
            <a:avLst/>
          </a:prstGeom>
          <a:noFill/>
        </p:spPr>
        <p:txBody>
          <a:bodyPr wrap="square"/>
          <a:lstStyle/>
          <a:p>
            <a:pPr algn="l"/>
            <a:r>
              <a:rPr sz="1300" b="0" i="0">
                <a:solidFill>
                  <a:srgbClr val="2C3E50"/>
                </a:solidFill>
                <a:latin typeface="Calibri"/>
              </a:rPr>
              <a:t>SmartWaste360 presents a holistic approach to urban waste management by integrating AI, IoT, and modern web technologies. The system delivers:</a:t>
            </a:r>
          </a:p>
        </p:txBody>
      </p:sp>
      <p:sp>
        <p:nvSpPr>
          <p:cNvPr id="7" name="TextBox 6"/>
          <p:cNvSpPr txBox="1"/>
          <p:nvPr/>
        </p:nvSpPr>
        <p:spPr>
          <a:xfrm>
            <a:off x="731520" y="1783080"/>
            <a:ext cx="10789920" cy="3017520"/>
          </a:xfrm>
          <a:prstGeom prst="rect">
            <a:avLst/>
          </a:prstGeom>
          <a:noFill/>
        </p:spPr>
        <p:txBody>
          <a:bodyPr wrap="square"/>
          <a:lstStyle/>
          <a:p>
            <a:pPr algn="l"/>
            <a:r>
              <a:rPr sz="1300" b="0">
                <a:solidFill>
                  <a:srgbClr val="2C3E50"/>
                </a:solidFill>
                <a:latin typeface="Calibri"/>
              </a:rPr>
              <a:t>✔  Automated waste classification through Google Gemini AI</a:t>
            </a:r>
          </a:p>
          <a:p>
            <a:pPr algn="l"/>
            <a:r>
              <a:rPr sz="1300" b="0">
                <a:solidFill>
                  <a:srgbClr val="2C3E50"/>
                </a:solidFill>
                <a:latin typeface="Calibri"/>
              </a:rPr>
              <a:t>✔  Real-time bin monitoring using ESP32 + HC-SR04 sensors with median filtering</a:t>
            </a:r>
          </a:p>
          <a:p>
            <a:pPr algn="l"/>
            <a:r>
              <a:rPr sz="1300" b="0">
                <a:solidFill>
                  <a:srgbClr val="2C3E50"/>
                </a:solidFill>
                <a:latin typeface="Calibri"/>
              </a:rPr>
              <a:t>✔  TSP + 2-opt route optimization with traffic-aware planning</a:t>
            </a:r>
          </a:p>
          <a:p>
            <a:pPr algn="l"/>
            <a:r>
              <a:rPr sz="1300" b="0">
                <a:solidFill>
                  <a:srgbClr val="2C3E50"/>
                </a:solidFill>
                <a:latin typeface="Calibri"/>
              </a:rPr>
              <a:t>✔  Predictive analytics using NumPy linear regression for waste forecasting</a:t>
            </a:r>
          </a:p>
          <a:p>
            <a:pPr algn="l"/>
            <a:r>
              <a:rPr sz="1300" b="0">
                <a:solidFill>
                  <a:srgbClr val="2C3E50"/>
                </a:solidFill>
                <a:latin typeface="Calibri"/>
              </a:rPr>
              <a:t>✔  Community engagement through gamification, leaderboards &amp; 7 notification types</a:t>
            </a:r>
          </a:p>
          <a:p>
            <a:pPr algn="l"/>
            <a:r>
              <a:rPr sz="1300" b="0">
                <a:solidFill>
                  <a:srgbClr val="2C3E50"/>
                </a:solidFill>
                <a:latin typeface="Calibri"/>
              </a:rPr>
              <a:t>✔  Comprehensive analytics dashboards for all stakeholders</a:t>
            </a:r>
          </a:p>
          <a:p>
            <a:pPr algn="l"/>
            <a:r>
              <a:rPr sz="1300" b="0">
                <a:solidFill>
                  <a:srgbClr val="2C3E50"/>
                </a:solidFill>
                <a:latin typeface="Calibri"/>
              </a:rPr>
              <a:t>✔  Cloud-native deployment on Vercel + Render + Neon</a:t>
            </a:r>
          </a:p>
        </p:txBody>
      </p:sp>
      <p:sp>
        <p:nvSpPr>
          <p:cNvPr id="8" name="TextBox 7"/>
          <p:cNvSpPr txBox="1"/>
          <p:nvPr/>
        </p:nvSpPr>
        <p:spPr>
          <a:xfrm>
            <a:off x="731520" y="4892040"/>
            <a:ext cx="10789920" cy="320040"/>
          </a:xfrm>
          <a:prstGeom prst="rect">
            <a:avLst/>
          </a:prstGeom>
          <a:noFill/>
        </p:spPr>
        <p:txBody>
          <a:bodyPr wrap="square"/>
          <a:lstStyle/>
          <a:p>
            <a:pPr algn="l"/>
            <a:r>
              <a:rPr sz="1300" b="1" i="0">
                <a:solidFill>
                  <a:srgbClr val="0D9276"/>
                </a:solidFill>
                <a:latin typeface="Calibri"/>
              </a:rPr>
              <a:t>Future Enhancements:</a:t>
            </a:r>
          </a:p>
        </p:txBody>
      </p:sp>
      <p:sp>
        <p:nvSpPr>
          <p:cNvPr id="9" name="TextBox 8"/>
          <p:cNvSpPr txBox="1"/>
          <p:nvPr/>
        </p:nvSpPr>
        <p:spPr>
          <a:xfrm>
            <a:off x="731520" y="5212080"/>
            <a:ext cx="10789920" cy="594360"/>
          </a:xfrm>
          <a:prstGeom prst="rect">
            <a:avLst/>
          </a:prstGeom>
          <a:noFill/>
        </p:spPr>
        <p:txBody>
          <a:bodyPr wrap="square"/>
          <a:lstStyle/>
          <a:p>
            <a:pPr algn="l"/>
            <a:r>
              <a:rPr sz="1200" b="0" i="0">
                <a:solidFill>
                  <a:srgbClr val="2C3E50"/>
                </a:solidFill>
                <a:latin typeface="Calibri"/>
              </a:rPr>
              <a:t>Offline classification support  ·  Native mobile apps  ·  WebSocket real-time updates  ·  Multi-language support  ·  Municipal ERP integration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058400" cy="685800"/>
          </a:xfrm>
          <a:prstGeom prst="rect">
            <a:avLst/>
          </a:prstGeom>
          <a:noFill/>
        </p:spPr>
        <p:txBody>
          <a:bodyPr wrap="square"/>
          <a:lstStyle/>
          <a:p>
            <a:pPr algn="l"/>
            <a:r>
              <a:rPr sz="2800" b="1" i="0">
                <a:solidFill>
                  <a:srgbClr val="2C3E50"/>
                </a:solidFill>
                <a:latin typeface="Calibri"/>
              </a:rPr>
              <a:t>References</a:t>
            </a:r>
          </a:p>
        </p:txBody>
      </p:sp>
      <p:sp>
        <p:nvSpPr>
          <p:cNvPr id="5" name="Rectangle 4"/>
          <p:cNvSpPr/>
          <p:nvPr/>
        </p:nvSpPr>
        <p:spPr>
          <a:xfrm>
            <a:off x="731520" y="1051560"/>
            <a:ext cx="2286000" cy="457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789920" cy="475488"/>
          </a:xfrm>
          <a:prstGeom prst="rect">
            <a:avLst/>
          </a:prstGeom>
          <a:noFill/>
        </p:spPr>
        <p:txBody>
          <a:bodyPr wrap="square"/>
          <a:lstStyle/>
          <a:p>
            <a:pPr algn="l"/>
            <a:r>
              <a:rPr sz="1100" b="0" i="0">
                <a:solidFill>
                  <a:srgbClr val="2C3E50"/>
                </a:solidFill>
                <a:latin typeface="Calibri"/>
              </a:rPr>
              <a:t>[1]  World Bank, "What a Waste 2.0: A Global Snapshot of Solid Waste Management to 2050," World Bank Group, 2018.</a:t>
            </a:r>
          </a:p>
        </p:txBody>
      </p:sp>
      <p:sp>
        <p:nvSpPr>
          <p:cNvPr id="7" name="TextBox 6"/>
          <p:cNvSpPr txBox="1"/>
          <p:nvPr/>
        </p:nvSpPr>
        <p:spPr>
          <a:xfrm>
            <a:off x="731520" y="1792224"/>
            <a:ext cx="10789920" cy="475488"/>
          </a:xfrm>
          <a:prstGeom prst="rect">
            <a:avLst/>
          </a:prstGeom>
          <a:noFill/>
        </p:spPr>
        <p:txBody>
          <a:bodyPr wrap="square"/>
          <a:lstStyle/>
          <a:p>
            <a:pPr algn="l"/>
            <a:r>
              <a:rPr sz="1100" b="0" i="0">
                <a:solidFill>
                  <a:srgbClr val="2C3E50"/>
                </a:solidFill>
                <a:latin typeface="Calibri"/>
              </a:rPr>
              <a:t>[2]  S. Kumar et al., "IoT-Based Smart Waste Management System Using Ultrasonic Sensors and Machine Learning," IEEE Access, vol. 9, pp. 46789–46800, 2021.</a:t>
            </a:r>
          </a:p>
        </p:txBody>
      </p:sp>
      <p:sp>
        <p:nvSpPr>
          <p:cNvPr id="8" name="TextBox 7"/>
          <p:cNvSpPr txBox="1"/>
          <p:nvPr/>
        </p:nvSpPr>
        <p:spPr>
          <a:xfrm>
            <a:off x="731520" y="2304288"/>
            <a:ext cx="10789920" cy="475488"/>
          </a:xfrm>
          <a:prstGeom prst="rect">
            <a:avLst/>
          </a:prstGeom>
          <a:noFill/>
        </p:spPr>
        <p:txBody>
          <a:bodyPr wrap="square"/>
          <a:lstStyle/>
          <a:p>
            <a:pPr algn="l"/>
            <a:r>
              <a:rPr sz="1100" b="0" i="0">
                <a:solidFill>
                  <a:srgbClr val="2C3E50"/>
                </a:solidFill>
                <a:latin typeface="Calibri"/>
              </a:rPr>
              <a:t>[3]  M. Aazam et al., "Cloud-IoT Based Smart Waste Collection System Using Big Data Analytics," Springer, Journal of Ambient Intelligence and Humanized Computing, 2020.</a:t>
            </a:r>
          </a:p>
        </p:txBody>
      </p:sp>
      <p:sp>
        <p:nvSpPr>
          <p:cNvPr id="9" name="TextBox 8"/>
          <p:cNvSpPr txBox="1"/>
          <p:nvPr/>
        </p:nvSpPr>
        <p:spPr>
          <a:xfrm>
            <a:off x="731520" y="2816352"/>
            <a:ext cx="10789920" cy="475488"/>
          </a:xfrm>
          <a:prstGeom prst="rect">
            <a:avLst/>
          </a:prstGeom>
          <a:noFill/>
        </p:spPr>
        <p:txBody>
          <a:bodyPr wrap="square"/>
          <a:lstStyle/>
          <a:p>
            <a:pPr algn="l"/>
            <a:r>
              <a:rPr sz="1100" b="0" i="0">
                <a:solidFill>
                  <a:srgbClr val="2C3E50"/>
                </a:solidFill>
                <a:latin typeface="Calibri"/>
              </a:rPr>
              <a:t>[4]  Central Pollution Control Board (CPCB), "Annual Report on Solid Waste Management in India," Ministry of Environment, Forest and Climate Change, Government of India, 2023.</a:t>
            </a:r>
          </a:p>
        </p:txBody>
      </p:sp>
      <p:sp>
        <p:nvSpPr>
          <p:cNvPr id="10" name="TextBox 9"/>
          <p:cNvSpPr txBox="1"/>
          <p:nvPr/>
        </p:nvSpPr>
        <p:spPr>
          <a:xfrm>
            <a:off x="731520" y="3328416"/>
            <a:ext cx="10789920" cy="475488"/>
          </a:xfrm>
          <a:prstGeom prst="rect">
            <a:avLst/>
          </a:prstGeom>
          <a:noFill/>
        </p:spPr>
        <p:txBody>
          <a:bodyPr wrap="square"/>
          <a:lstStyle/>
          <a:p>
            <a:pPr algn="l"/>
            <a:r>
              <a:rPr sz="1100" b="0" i="0">
                <a:solidFill>
                  <a:srgbClr val="2C3E50"/>
                </a:solidFill>
                <a:latin typeface="Calibri"/>
              </a:rPr>
              <a:t>[5]  Google, "Gemini AI API Documentation," Google DeepMind, 2024. [Online]. Available: https://ai.google.dev/</a:t>
            </a:r>
          </a:p>
        </p:txBody>
      </p:sp>
      <p:sp>
        <p:nvSpPr>
          <p:cNvPr id="11" name="TextBox 10"/>
          <p:cNvSpPr txBox="1"/>
          <p:nvPr/>
        </p:nvSpPr>
        <p:spPr>
          <a:xfrm>
            <a:off x="731520" y="3840480"/>
            <a:ext cx="10789920" cy="475488"/>
          </a:xfrm>
          <a:prstGeom prst="rect">
            <a:avLst/>
          </a:prstGeom>
          <a:noFill/>
        </p:spPr>
        <p:txBody>
          <a:bodyPr wrap="square"/>
          <a:lstStyle/>
          <a:p>
            <a:pPr algn="l"/>
            <a:r>
              <a:rPr sz="1100" b="0" i="0">
                <a:solidFill>
                  <a:srgbClr val="2C3E50"/>
                </a:solidFill>
                <a:latin typeface="Calibri"/>
              </a:rPr>
              <a:t>[6]  A. Sharma &amp; R. Gupta, "Smart Bin: An IoT-Based Waste Management and Segregation System Using Ultrasonic and Infrared Sensors," International Journal of Engineering Research, vol. 7, 2022.</a:t>
            </a:r>
          </a:p>
        </p:txBody>
      </p:sp>
      <p:sp>
        <p:nvSpPr>
          <p:cNvPr id="12" name="TextBox 11"/>
          <p:cNvSpPr txBox="1"/>
          <p:nvPr/>
        </p:nvSpPr>
        <p:spPr>
          <a:xfrm>
            <a:off x="731520" y="4352544"/>
            <a:ext cx="10789920" cy="475488"/>
          </a:xfrm>
          <a:prstGeom prst="rect">
            <a:avLst/>
          </a:prstGeom>
          <a:noFill/>
        </p:spPr>
        <p:txBody>
          <a:bodyPr wrap="square"/>
          <a:lstStyle/>
          <a:p>
            <a:pPr algn="l"/>
            <a:r>
              <a:rPr sz="1100" b="0" i="0">
                <a:solidFill>
                  <a:srgbClr val="2C3E50"/>
                </a:solidFill>
                <a:latin typeface="Calibri"/>
              </a:rPr>
              <a:t>[7]  React.js Documentation, Meta Platforms Inc., 2024. [Online]. Available: https://react.dev/</a:t>
            </a:r>
          </a:p>
        </p:txBody>
      </p:sp>
      <p:sp>
        <p:nvSpPr>
          <p:cNvPr id="13" name="TextBox 12"/>
          <p:cNvSpPr txBox="1"/>
          <p:nvPr/>
        </p:nvSpPr>
        <p:spPr>
          <a:xfrm>
            <a:off x="731520" y="4864608"/>
            <a:ext cx="10789920" cy="475488"/>
          </a:xfrm>
          <a:prstGeom prst="rect">
            <a:avLst/>
          </a:prstGeom>
          <a:noFill/>
        </p:spPr>
        <p:txBody>
          <a:bodyPr wrap="square"/>
          <a:lstStyle/>
          <a:p>
            <a:pPr algn="l"/>
            <a:r>
              <a:rPr sz="1100" b="0" i="0">
                <a:solidFill>
                  <a:srgbClr val="2C3E50"/>
                </a:solidFill>
                <a:latin typeface="Calibri"/>
              </a:rPr>
              <a:t>[8]  Flask Documentation, Pallets Projects, 2024. [Online]. Available: https://flask.palletsprojects.com/</a:t>
            </a:r>
          </a:p>
        </p:txBody>
      </p:sp>
      <p:sp>
        <p:nvSpPr>
          <p:cNvPr id="14" name="TextBox 13"/>
          <p:cNvSpPr txBox="1"/>
          <p:nvPr/>
        </p:nvSpPr>
        <p:spPr>
          <a:xfrm>
            <a:off x="731520" y="5376672"/>
            <a:ext cx="10789920" cy="475488"/>
          </a:xfrm>
          <a:prstGeom prst="rect">
            <a:avLst/>
          </a:prstGeom>
          <a:noFill/>
        </p:spPr>
        <p:txBody>
          <a:bodyPr wrap="square"/>
          <a:lstStyle/>
          <a:p>
            <a:pPr algn="l"/>
            <a:r>
              <a:rPr sz="1100" b="0" i="0">
                <a:solidFill>
                  <a:srgbClr val="2C3E50"/>
                </a:solidFill>
                <a:latin typeface="Calibri"/>
              </a:rPr>
              <a:t>[9]  PostgreSQL Global Development Group, "PostgreSQL 16 Documentation," 2024. [Online]. Available: https://www.postgresql.org/docs/</a:t>
            </a:r>
          </a:p>
        </p:txBody>
      </p:sp>
      <p:sp>
        <p:nvSpPr>
          <p:cNvPr id="15" name="TextBox 14"/>
          <p:cNvSpPr txBox="1"/>
          <p:nvPr/>
        </p:nvSpPr>
        <p:spPr>
          <a:xfrm>
            <a:off x="731520" y="5888736"/>
            <a:ext cx="10789920" cy="475488"/>
          </a:xfrm>
          <a:prstGeom prst="rect">
            <a:avLst/>
          </a:prstGeom>
          <a:noFill/>
        </p:spPr>
        <p:txBody>
          <a:bodyPr wrap="square"/>
          <a:lstStyle/>
          <a:p>
            <a:pPr algn="l"/>
            <a:r>
              <a:rPr sz="1100" b="0" i="0">
                <a:solidFill>
                  <a:srgbClr val="2C3E50"/>
                </a:solidFill>
                <a:latin typeface="Calibri"/>
              </a:rPr>
              <a:t>[10] Ministry of Housing and Urban Affairs, "Smart Cities Mission – Guidelines," Government of India, 2023.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0D9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286000"/>
            <a:ext cx="9601200" cy="1097280"/>
          </a:xfrm>
          <a:prstGeom prst="rect">
            <a:avLst/>
          </a:prstGeom>
          <a:noFill/>
        </p:spPr>
        <p:txBody>
          <a:bodyPr wrap="square"/>
          <a:lstStyle/>
          <a:p>
            <a:pPr algn="ctr"/>
            <a:r>
              <a:rPr sz="4800" b="1" i="0">
                <a:solidFill>
                  <a:srgbClr val="FFFFFF"/>
                </a:solidFill>
                <a:latin typeface="Calibri"/>
              </a:rPr>
              <a:t>Thank You!</a:t>
            </a:r>
          </a:p>
        </p:txBody>
      </p:sp>
      <p:sp>
        <p:nvSpPr>
          <p:cNvPr id="5" name="Rectangle 4"/>
          <p:cNvSpPr/>
          <p:nvPr/>
        </p:nvSpPr>
        <p:spPr>
          <a:xfrm>
            <a:off x="5029200" y="4297680"/>
            <a:ext cx="2286000" cy="36576"/>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4754880"/>
            <a:ext cx="8686800" cy="502920"/>
          </a:xfrm>
          <a:prstGeom prst="rect">
            <a:avLst/>
          </a:prstGeom>
          <a:noFill/>
        </p:spPr>
        <p:txBody>
          <a:bodyPr wrap="square"/>
          <a:lstStyle/>
          <a:p>
            <a:pPr algn="ctr"/>
            <a:r>
              <a:rPr sz="1600" b="0" i="0">
                <a:solidFill>
                  <a:srgbClr val="BDC3C7"/>
                </a:solidFill>
                <a:latin typeface="Calibri"/>
              </a:rPr>
              <a:t>SmartWaste360  —  Making Waste Management Smarter</a:t>
            </a:r>
          </a:p>
        </p:txBody>
      </p:sp>
      <p:sp>
        <p:nvSpPr>
          <p:cNvPr id="7" name="TextBox 6"/>
          <p:cNvSpPr txBox="1"/>
          <p:nvPr/>
        </p:nvSpPr>
        <p:spPr>
          <a:xfrm>
            <a:off x="1828800" y="5303520"/>
            <a:ext cx="8686800" cy="502920"/>
          </a:xfrm>
          <a:prstGeom prst="rect">
            <a:avLst/>
          </a:prstGeom>
          <a:noFill/>
        </p:spPr>
        <p:txBody>
          <a:bodyPr wrap="square"/>
          <a:lstStyle/>
          <a:p>
            <a:pPr algn="ctr"/>
            <a:r>
              <a:rPr sz="1400" b="0" i="0">
                <a:solidFill>
                  <a:srgbClr val="16A085"/>
                </a:solidFill>
                <a:latin typeface="Calibri"/>
              </a:rPr>
              <a:t>🌐  smartwaste360-frontend.vercel.app</a:t>
            </a:r>
          </a:p>
        </p:txBody>
      </p:sp>
      <p:sp>
        <p:nvSpPr>
          <p:cNvPr id="8" name="TextBox 7"/>
          <p:cNvSpPr txBox="1"/>
          <p:nvPr/>
        </p:nvSpPr>
        <p:spPr>
          <a:xfrm>
            <a:off x="1828800" y="5852160"/>
            <a:ext cx="8686800" cy="640080"/>
          </a:xfrm>
          <a:prstGeom prst="rect">
            <a:avLst/>
          </a:prstGeom>
          <a:noFill/>
        </p:spPr>
        <p:txBody>
          <a:bodyPr wrap="square"/>
          <a:lstStyle/>
          <a:p>
            <a:pPr algn="ctr"/>
            <a:r>
              <a:rPr sz="1200" b="0" i="0">
                <a:solidFill>
                  <a:srgbClr val="BDC3C7"/>
                </a:solidFill>
                <a:latin typeface="Calibri"/>
              </a:rPr>
              <a:t>A Saketh  ·  Bala Dheeraj Chennavaram  ·  V Rohit Reddy
Guide: R.Sudha (Associate Professor) — Dept. of Computer Science &amp;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2667</Words>
  <Application>Microsoft Office PowerPoint</Application>
  <PresentationFormat>Widescreen</PresentationFormat>
  <Paragraphs>252</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23-733-006_CHENNAVARAM BALA DHEERAJ</cp:lastModifiedBy>
  <cp:revision>4</cp:revision>
  <dcterms:created xsi:type="dcterms:W3CDTF">2013-01-27T09:14:16Z</dcterms:created>
  <dcterms:modified xsi:type="dcterms:W3CDTF">2026-05-16T04:17:04Z</dcterms:modified>
  <cp:category/>
</cp:coreProperties>
</file>