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284"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15-May-26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15-May-26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15-May-26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15-May-26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5394960" y="914400"/>
            <a:ext cx="1371600" cy="1371600"/>
          </a:xfrm>
          <a:prstGeom prst="ellipse">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394960" y="1143000"/>
            <a:ext cx="1371600" cy="914400"/>
          </a:xfrm>
          <a:prstGeom prst="rect">
            <a:avLst/>
          </a:prstGeom>
          <a:noFill/>
        </p:spPr>
        <p:txBody>
          <a:bodyPr wrap="square">
            <a:spAutoFit/>
          </a:bodyPr>
          <a:lstStyle/>
          <a:p>
            <a:pPr algn="ctr">
              <a:defRPr sz="4000" b="0">
                <a:solidFill>
                  <a:srgbClr val="FFFFFF"/>
                </a:solidFill>
                <a:latin typeface="Calibri"/>
              </a:defRPr>
            </a:pPr>
            <a:r>
              <a:t>♻️</a:t>
            </a:r>
          </a:p>
        </p:txBody>
      </p:sp>
      <p:sp>
        <p:nvSpPr>
          <p:cNvPr id="6" name="TextBox 5"/>
          <p:cNvSpPr txBox="1"/>
          <p:nvPr/>
        </p:nvSpPr>
        <p:spPr>
          <a:xfrm>
            <a:off x="1371600" y="2560320"/>
            <a:ext cx="9601200" cy="1097280"/>
          </a:xfrm>
          <a:prstGeom prst="rect">
            <a:avLst/>
          </a:prstGeom>
          <a:noFill/>
        </p:spPr>
        <p:txBody>
          <a:bodyPr wrap="square">
            <a:spAutoFit/>
          </a:bodyPr>
          <a:lstStyle/>
          <a:p>
            <a:pPr algn="ctr">
              <a:defRPr sz="4800" b="1">
                <a:solidFill>
                  <a:srgbClr val="FFFFFF"/>
                </a:solidFill>
                <a:latin typeface="Calibri"/>
              </a:defRPr>
            </a:pPr>
            <a:r>
              <a:t>SmartWaste360</a:t>
            </a:r>
          </a:p>
        </p:txBody>
      </p:sp>
      <p:sp>
        <p:nvSpPr>
          <p:cNvPr id="7" name="TextBox 6"/>
          <p:cNvSpPr txBox="1"/>
          <p:nvPr/>
        </p:nvSpPr>
        <p:spPr>
          <a:xfrm>
            <a:off x="1371600" y="3566160"/>
            <a:ext cx="9601200" cy="640080"/>
          </a:xfrm>
          <a:prstGeom prst="rect">
            <a:avLst/>
          </a:prstGeom>
          <a:noFill/>
        </p:spPr>
        <p:txBody>
          <a:bodyPr wrap="square">
            <a:spAutoFit/>
          </a:bodyPr>
          <a:lstStyle/>
          <a:p>
            <a:pPr algn="ctr">
              <a:defRPr sz="2400" b="0">
                <a:solidFill>
                  <a:srgbClr val="16A085"/>
                </a:solidFill>
                <a:latin typeface="Calibri"/>
              </a:defRPr>
            </a:pPr>
            <a:r>
              <a:t>AI-Powered Waste Management Platform</a:t>
            </a:r>
          </a:p>
        </p:txBody>
      </p:sp>
      <p:sp>
        <p:nvSpPr>
          <p:cNvPr id="8" name="Rectangle 7"/>
          <p:cNvSpPr/>
          <p:nvPr/>
        </p:nvSpPr>
        <p:spPr>
          <a:xfrm>
            <a:off x="4572000" y="4297680"/>
            <a:ext cx="3017520" cy="36576"/>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0" y="4572000"/>
            <a:ext cx="6858000" cy="2031325"/>
          </a:xfrm>
          <a:prstGeom prst="rect">
            <a:avLst/>
          </a:prstGeom>
          <a:noFill/>
        </p:spPr>
        <p:txBody>
          <a:bodyPr wrap="square">
            <a:spAutoFit/>
          </a:bodyPr>
          <a:lstStyle/>
          <a:p>
            <a:pPr algn="ctr">
              <a:defRPr sz="1400" b="0">
                <a:solidFill>
                  <a:srgbClr val="BDC3C7"/>
                </a:solidFill>
                <a:latin typeface="Calibri"/>
              </a:defRPr>
            </a:pPr>
            <a:r>
              <a:t>Theme-Based Project</a:t>
            </a:r>
            <a:br>
              <a:rPr dirty="0"/>
            </a:br>
            <a:br>
              <a:rPr dirty="0"/>
            </a:br>
            <a:r>
              <a:rPr dirty="0"/>
              <a:t>Team Members:</a:t>
            </a:r>
            <a:br>
              <a:rPr dirty="0"/>
            </a:br>
            <a:r>
              <a:rPr dirty="0"/>
              <a:t>  </a:t>
            </a:r>
            <a:r>
              <a:rPr lang="en-US" dirty="0"/>
              <a:t>A Saketh - 1602-23-733-042</a:t>
            </a:r>
            <a:br>
              <a:rPr dirty="0"/>
            </a:br>
            <a:r>
              <a:rPr dirty="0"/>
              <a:t>  </a:t>
            </a:r>
            <a:r>
              <a:rPr lang="en-US" dirty="0"/>
              <a:t>Bala Dheeraj Chennavaram -  1602-23-733-006</a:t>
            </a:r>
            <a:br>
              <a:rPr dirty="0"/>
            </a:br>
            <a:r>
              <a:rPr dirty="0"/>
              <a:t>  </a:t>
            </a:r>
            <a:r>
              <a:rPr lang="en-US" dirty="0"/>
              <a:t>V Rohit Reddy - 1602-23-733-065</a:t>
            </a:r>
            <a:br>
              <a:rPr dirty="0"/>
            </a:br>
            <a:br>
              <a:rPr dirty="0"/>
            </a:br>
            <a:r>
              <a:rPr dirty="0"/>
              <a:t>Guide</a:t>
            </a:r>
            <a:r>
              <a:rPr lang="en-US" dirty="0"/>
              <a:t>: R.Sudha (Associate Professor)</a:t>
            </a:r>
            <a:br>
              <a:rPr dirty="0"/>
            </a:br>
            <a:r>
              <a:rPr dirty="0"/>
              <a:t>Department of Computer Science &amp; Engineering</a:t>
            </a:r>
          </a:p>
        </p:txBody>
      </p:sp>
      <p:sp>
        <p:nvSpPr>
          <p:cNvPr id="10" name="Rectangle 9"/>
          <p:cNvSpPr/>
          <p:nvPr/>
        </p:nvSpPr>
        <p:spPr>
          <a:xfrm>
            <a:off x="0" y="6784848"/>
            <a:ext cx="12191695" cy="73152"/>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731520"/>
          </a:xfrm>
          <a:prstGeom prst="rect">
            <a:avLst/>
          </a:prstGeom>
          <a:noFill/>
        </p:spPr>
        <p:txBody>
          <a:bodyPr wrap="square">
            <a:spAutoFit/>
          </a:bodyPr>
          <a:lstStyle/>
          <a:p>
            <a:pPr algn="l">
              <a:defRPr sz="3200" b="1">
                <a:solidFill>
                  <a:srgbClr val="0D9276"/>
                </a:solidFill>
                <a:latin typeface="Calibri"/>
              </a:defRPr>
            </a:pPr>
            <a:r>
              <a:t>Abstract</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63040"/>
            <a:ext cx="10515600" cy="2286000"/>
          </a:xfrm>
          <a:prstGeom prst="rect">
            <a:avLst/>
          </a:prstGeom>
          <a:noFill/>
        </p:spPr>
        <p:txBody>
          <a:bodyPr wrap="square">
            <a:spAutoFit/>
          </a:bodyPr>
          <a:lstStyle/>
          <a:p>
            <a:pPr algn="l">
              <a:defRPr sz="1600" b="0">
                <a:solidFill>
                  <a:srgbClr val="2C3E50"/>
                </a:solidFill>
                <a:latin typeface="Calibri"/>
              </a:defRPr>
            </a:pPr>
            <a:r>
              <a:t>SmartWaste360 is a comprehensive, AI-powered waste management platform designed to revolutionize the way urban communities handle waste collection, classification, and disposal. The platform leverages Google Gemini AI for real-time waste classification through image recognition, enabling users to identify waste types instantly using their smartphone cameras. By integrating interactive maps, IoT-based smart bins equipped with ultrasonic sensors for fill-level monitoring, and intelligent route optimization, SmartWaste360 creates a seamless ecosystem connecting households, waste collectors, and municipal administrators on a single unified platform.</a:t>
            </a:r>
          </a:p>
        </p:txBody>
      </p:sp>
      <p:sp>
        <p:nvSpPr>
          <p:cNvPr id="7" name="TextBox 6"/>
          <p:cNvSpPr txBox="1"/>
          <p:nvPr/>
        </p:nvSpPr>
        <p:spPr>
          <a:xfrm>
            <a:off x="731520" y="3657600"/>
            <a:ext cx="10515600" cy="2560320"/>
          </a:xfrm>
          <a:prstGeom prst="rect">
            <a:avLst/>
          </a:prstGeom>
          <a:noFill/>
        </p:spPr>
        <p:txBody>
          <a:bodyPr wrap="square">
            <a:spAutoFit/>
          </a:bodyPr>
          <a:lstStyle/>
          <a:p>
            <a:pPr algn="l">
              <a:defRPr sz="1600" b="0">
                <a:solidFill>
                  <a:srgbClr val="2C3E50"/>
                </a:solidFill>
                <a:latin typeface="Calibri"/>
              </a:defRPr>
            </a:pPr>
            <a:r>
              <a:t>The system employs a multi-role architecture supporting three distinct user types — residents, waste collectors, and administrators — each with tailored dashboards and functionalities. Key features include gamified user engagement through leaderboards and reward points, colony-based waste collection scheduling, real-time analytics dashboards, and an automated booking system for waste pickups. Built with a modern technology stack comprising React.js, Python Flask, PostgreSQL, and deployed on cloud platforms (Vercel and Render), SmartWaste360 aims to improve waste sorting accuracy by up to 40%, optimize collection routes to reduce fuel consumption, and foster community participation in sustainable waste management practices.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731520"/>
          </a:xfrm>
          <a:prstGeom prst="rect">
            <a:avLst/>
          </a:prstGeom>
          <a:noFill/>
        </p:spPr>
        <p:txBody>
          <a:bodyPr wrap="square">
            <a:spAutoFit/>
          </a:bodyPr>
          <a:lstStyle/>
          <a:p>
            <a:pPr algn="l">
              <a:defRPr sz="3200" b="1">
                <a:solidFill>
                  <a:srgbClr val="0D9276"/>
                </a:solidFill>
                <a:latin typeface="Calibri"/>
              </a:defRPr>
            </a:pPr>
            <a:r>
              <a:t>Introduction</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63040"/>
            <a:ext cx="10515600" cy="1645920"/>
          </a:xfrm>
          <a:prstGeom prst="rect">
            <a:avLst/>
          </a:prstGeom>
          <a:noFill/>
        </p:spPr>
        <p:txBody>
          <a:bodyPr wrap="square">
            <a:spAutoFit/>
          </a:bodyPr>
          <a:lstStyle/>
          <a:p>
            <a:pPr algn="l">
              <a:defRPr sz="1600" b="0">
                <a:solidFill>
                  <a:srgbClr val="2C3E50"/>
                </a:solidFill>
                <a:latin typeface="Calibri"/>
              </a:defRPr>
            </a:pPr>
            <a:r>
              <a:t>Rapid urbanization and population growth have led to an exponential increase in waste generation across cities worldwide. Traditional waste management systems rely heavily on manual processes, leading to operational inefficiencies, improper waste segregation, and environmental degradation. According to the World Bank, global waste generation is projected to increase by 70% by 2050, making the need for intelligent waste management solutions more critical than ever.</a:t>
            </a:r>
          </a:p>
        </p:txBody>
      </p:sp>
      <p:sp>
        <p:nvSpPr>
          <p:cNvPr id="7" name="TextBox 6"/>
          <p:cNvSpPr txBox="1"/>
          <p:nvPr/>
        </p:nvSpPr>
        <p:spPr>
          <a:xfrm>
            <a:off x="731520" y="3108960"/>
            <a:ext cx="10058400" cy="457200"/>
          </a:xfrm>
          <a:prstGeom prst="rect">
            <a:avLst/>
          </a:prstGeom>
          <a:noFill/>
        </p:spPr>
        <p:txBody>
          <a:bodyPr wrap="square">
            <a:spAutoFit/>
          </a:bodyPr>
          <a:lstStyle/>
          <a:p>
            <a:pPr algn="l">
              <a:defRPr sz="1600" b="1">
                <a:solidFill>
                  <a:srgbClr val="0D9276"/>
                </a:solidFill>
                <a:latin typeface="Calibri"/>
              </a:defRPr>
            </a:pPr>
            <a:r>
              <a:t>SmartWaste360 addresses these challenges through:</a:t>
            </a:r>
          </a:p>
        </p:txBody>
      </p:sp>
      <p:sp>
        <p:nvSpPr>
          <p:cNvPr id="8" name="TextBox 7"/>
          <p:cNvSpPr txBox="1"/>
          <p:nvPr/>
        </p:nvSpPr>
        <p:spPr>
          <a:xfrm>
            <a:off x="914400" y="3566160"/>
            <a:ext cx="10058400" cy="3200400"/>
          </a:xfrm>
          <a:prstGeom prst="rect">
            <a:avLst/>
          </a:prstGeom>
          <a:noFill/>
        </p:spPr>
        <p:txBody>
          <a:bodyPr wrap="square">
            <a:spAutoFit/>
          </a:bodyPr>
          <a:lstStyle/>
          <a:p>
            <a:pPr>
              <a:lnSpc>
                <a:spcPts val="2250"/>
              </a:lnSpc>
              <a:spcAft>
                <a:spcPts val="600"/>
              </a:spcAft>
              <a:defRPr sz="1500">
                <a:solidFill>
                  <a:srgbClr val="2C3E50"/>
                </a:solidFill>
                <a:latin typeface="Calibri"/>
              </a:defRPr>
            </a:pPr>
            <a:r>
              <a:t>▸  AI-driven waste classification using image recognition (Google Gemini AI)</a:t>
            </a:r>
          </a:p>
          <a:p>
            <a:pPr>
              <a:lnSpc>
                <a:spcPts val="2250"/>
              </a:lnSpc>
              <a:spcAft>
                <a:spcPts val="600"/>
              </a:spcAft>
              <a:defRPr sz="1500">
                <a:solidFill>
                  <a:srgbClr val="2C3E50"/>
                </a:solidFill>
                <a:latin typeface="Calibri"/>
              </a:defRPr>
            </a:pPr>
            <a:r>
              <a:t>▸  IoT-enabled smart bins with ultrasonic sensors for real-time fill-level monitoring</a:t>
            </a:r>
          </a:p>
          <a:p>
            <a:pPr>
              <a:lnSpc>
                <a:spcPts val="2250"/>
              </a:lnSpc>
              <a:spcAft>
                <a:spcPts val="600"/>
              </a:spcAft>
              <a:defRPr sz="1500">
                <a:solidFill>
                  <a:srgbClr val="2C3E50"/>
                </a:solidFill>
                <a:latin typeface="Calibri"/>
              </a:defRPr>
            </a:pPr>
            <a:r>
              <a:t>▸  Interactive maps with GPS-based collection point management</a:t>
            </a:r>
          </a:p>
          <a:p>
            <a:pPr>
              <a:lnSpc>
                <a:spcPts val="2250"/>
              </a:lnSpc>
              <a:spcAft>
                <a:spcPts val="600"/>
              </a:spcAft>
              <a:defRPr sz="1500">
                <a:solidFill>
                  <a:srgbClr val="2C3E50"/>
                </a:solidFill>
                <a:latin typeface="Calibri"/>
              </a:defRPr>
            </a:pPr>
            <a:r>
              <a:t>▸  Multi-role platform (Users, Collectors, Admins) with role-based access</a:t>
            </a:r>
          </a:p>
          <a:p>
            <a:pPr>
              <a:lnSpc>
                <a:spcPts val="2250"/>
              </a:lnSpc>
              <a:spcAft>
                <a:spcPts val="600"/>
              </a:spcAft>
              <a:defRPr sz="1500">
                <a:solidFill>
                  <a:srgbClr val="2C3E50"/>
                </a:solidFill>
                <a:latin typeface="Calibri"/>
              </a:defRPr>
            </a:pPr>
            <a:r>
              <a:t>▸  Gamification through leaderboards and reward points to drive engagement</a:t>
            </a:r>
          </a:p>
          <a:p>
            <a:pPr>
              <a:lnSpc>
                <a:spcPts val="2250"/>
              </a:lnSpc>
              <a:spcAft>
                <a:spcPts val="600"/>
              </a:spcAft>
              <a:defRPr sz="1500">
                <a:solidFill>
                  <a:srgbClr val="2C3E50"/>
                </a:solidFill>
                <a:latin typeface="Calibri"/>
              </a:defRPr>
            </a:pPr>
            <a:r>
              <a:t>▸  Real-time analytics dashboards for data-driven decision making</a:t>
            </a:r>
          </a:p>
          <a:p>
            <a:pPr>
              <a:lnSpc>
                <a:spcPts val="2250"/>
              </a:lnSpc>
              <a:spcAft>
                <a:spcPts val="600"/>
              </a:spcAft>
              <a:defRPr sz="1500">
                <a:solidFill>
                  <a:srgbClr val="2C3E50"/>
                </a:solidFill>
                <a:latin typeface="Calibri"/>
              </a:defRPr>
            </a:pPr>
            <a:r>
              <a:t>▸  Cloud-native deployment for scalability and high availability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731520"/>
          </a:xfrm>
          <a:prstGeom prst="rect">
            <a:avLst/>
          </a:prstGeom>
          <a:noFill/>
        </p:spPr>
        <p:txBody>
          <a:bodyPr wrap="square">
            <a:spAutoFit/>
          </a:bodyPr>
          <a:lstStyle/>
          <a:p>
            <a:pPr algn="l">
              <a:defRPr sz="3200" b="1">
                <a:solidFill>
                  <a:srgbClr val="0D9276"/>
                </a:solidFill>
                <a:latin typeface="Calibri"/>
              </a:defRPr>
            </a:pPr>
            <a:r>
              <a:t>Background — Literature Survey</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188720"/>
            <a:ext cx="10058400" cy="457200"/>
          </a:xfrm>
          <a:prstGeom prst="rect">
            <a:avLst/>
          </a:prstGeom>
          <a:noFill/>
        </p:spPr>
        <p:txBody>
          <a:bodyPr wrap="square">
            <a:spAutoFit/>
          </a:bodyPr>
          <a:lstStyle/>
          <a:p>
            <a:pPr algn="l">
              <a:defRPr sz="1400" b="0">
                <a:solidFill>
                  <a:srgbClr val="BDC3C7"/>
                </a:solidFill>
                <a:latin typeface="Calibri"/>
              </a:defRPr>
            </a:pPr>
            <a:r>
              <a:t>Existing Systems &amp; Research</a:t>
            </a:r>
          </a:p>
        </p:txBody>
      </p:sp>
      <p:sp>
        <p:nvSpPr>
          <p:cNvPr id="7" name="TextBox 6"/>
          <p:cNvSpPr txBox="1"/>
          <p:nvPr/>
        </p:nvSpPr>
        <p:spPr>
          <a:xfrm>
            <a:off x="731520" y="1371600"/>
            <a:ext cx="10515600" cy="640080"/>
          </a:xfrm>
          <a:prstGeom prst="rect">
            <a:avLst/>
          </a:prstGeom>
          <a:noFill/>
        </p:spPr>
        <p:txBody>
          <a:bodyPr wrap="square">
            <a:spAutoFit/>
          </a:bodyPr>
          <a:lstStyle/>
          <a:p>
            <a:pPr algn="l">
              <a:defRPr sz="1500" b="0">
                <a:solidFill>
                  <a:srgbClr val="2C3E50"/>
                </a:solidFill>
                <a:latin typeface="Calibri"/>
              </a:defRPr>
            </a:pPr>
            <a:r>
              <a:t>A comprehensive review of existing waste management systems and research literature was conducted to identify gaps and opportunities:</a:t>
            </a:r>
          </a:p>
        </p:txBody>
      </p:sp>
      <p:sp>
        <p:nvSpPr>
          <p:cNvPr id="8" name="TextBox 7"/>
          <p:cNvSpPr txBox="1"/>
          <p:nvPr/>
        </p:nvSpPr>
        <p:spPr>
          <a:xfrm>
            <a:off x="731520" y="2103120"/>
            <a:ext cx="3200400" cy="457200"/>
          </a:xfrm>
          <a:prstGeom prst="rect">
            <a:avLst/>
          </a:prstGeom>
          <a:noFill/>
        </p:spPr>
        <p:txBody>
          <a:bodyPr wrap="square">
            <a:spAutoFit/>
          </a:bodyPr>
          <a:lstStyle/>
          <a:p>
            <a:pPr algn="l">
              <a:defRPr sz="1300" b="1">
                <a:solidFill>
                  <a:srgbClr val="0D9276"/>
                </a:solidFill>
                <a:latin typeface="Calibri"/>
              </a:defRPr>
            </a:pPr>
            <a:r>
              <a:t>Municipal Manual Systems</a:t>
            </a:r>
          </a:p>
        </p:txBody>
      </p:sp>
      <p:sp>
        <p:nvSpPr>
          <p:cNvPr id="9" name="TextBox 8"/>
          <p:cNvSpPr txBox="1"/>
          <p:nvPr/>
        </p:nvSpPr>
        <p:spPr>
          <a:xfrm>
            <a:off x="4114800" y="2103120"/>
            <a:ext cx="7589520" cy="822960"/>
          </a:xfrm>
          <a:prstGeom prst="rect">
            <a:avLst/>
          </a:prstGeom>
          <a:noFill/>
        </p:spPr>
        <p:txBody>
          <a:bodyPr wrap="square">
            <a:spAutoFit/>
          </a:bodyPr>
          <a:lstStyle/>
          <a:p>
            <a:pPr algn="l">
              <a:defRPr sz="1200" b="0">
                <a:solidFill>
                  <a:srgbClr val="2C3E50"/>
                </a:solidFill>
                <a:latin typeface="Calibri"/>
              </a:defRPr>
            </a:pPr>
            <a:r>
              <a:t>Manual door-to-door collection with no segregation tracking; high labor cost, inconsistent scheduling, and zero data analytics.</a:t>
            </a:r>
          </a:p>
        </p:txBody>
      </p:sp>
      <p:sp>
        <p:nvSpPr>
          <p:cNvPr id="10" name="TextBox 9"/>
          <p:cNvSpPr txBox="1"/>
          <p:nvPr/>
        </p:nvSpPr>
        <p:spPr>
          <a:xfrm>
            <a:off x="731520" y="2971800"/>
            <a:ext cx="3200400" cy="457200"/>
          </a:xfrm>
          <a:prstGeom prst="rect">
            <a:avLst/>
          </a:prstGeom>
          <a:noFill/>
        </p:spPr>
        <p:txBody>
          <a:bodyPr wrap="square">
            <a:spAutoFit/>
          </a:bodyPr>
          <a:lstStyle/>
          <a:p>
            <a:pPr algn="l">
              <a:defRPr sz="1300" b="1">
                <a:solidFill>
                  <a:srgbClr val="0D9276"/>
                </a:solidFill>
                <a:latin typeface="Calibri"/>
              </a:defRPr>
            </a:pPr>
            <a:r>
              <a:t>Smart Bin Solutions (BigBelly, Ecube Labs)</a:t>
            </a:r>
          </a:p>
        </p:txBody>
      </p:sp>
      <p:sp>
        <p:nvSpPr>
          <p:cNvPr id="11" name="TextBox 10"/>
          <p:cNvSpPr txBox="1"/>
          <p:nvPr/>
        </p:nvSpPr>
        <p:spPr>
          <a:xfrm>
            <a:off x="4114800" y="2971800"/>
            <a:ext cx="7589520" cy="822960"/>
          </a:xfrm>
          <a:prstGeom prst="rect">
            <a:avLst/>
          </a:prstGeom>
          <a:noFill/>
        </p:spPr>
        <p:txBody>
          <a:bodyPr wrap="square">
            <a:spAutoFit/>
          </a:bodyPr>
          <a:lstStyle/>
          <a:p>
            <a:pPr algn="l">
              <a:defRPr sz="1200" b="0">
                <a:solidFill>
                  <a:srgbClr val="2C3E50"/>
                </a:solidFill>
                <a:latin typeface="Calibri"/>
              </a:defRPr>
            </a:pPr>
            <a:r>
              <a:t>IoT-enabled compressed bins with fill-level sensors; expensive per-unit cost ($3,000–$5,000), no AI classification, focus only on overflow prevention.</a:t>
            </a:r>
          </a:p>
        </p:txBody>
      </p:sp>
      <p:sp>
        <p:nvSpPr>
          <p:cNvPr id="12" name="TextBox 11"/>
          <p:cNvSpPr txBox="1"/>
          <p:nvPr/>
        </p:nvSpPr>
        <p:spPr>
          <a:xfrm>
            <a:off x="731520" y="3840480"/>
            <a:ext cx="3200400" cy="457200"/>
          </a:xfrm>
          <a:prstGeom prst="rect">
            <a:avLst/>
          </a:prstGeom>
          <a:noFill/>
        </p:spPr>
        <p:txBody>
          <a:bodyPr wrap="square">
            <a:spAutoFit/>
          </a:bodyPr>
          <a:lstStyle/>
          <a:p>
            <a:pPr algn="l">
              <a:defRPr sz="1300" b="1">
                <a:solidFill>
                  <a:srgbClr val="0D9276"/>
                </a:solidFill>
                <a:latin typeface="Calibri"/>
              </a:defRPr>
            </a:pPr>
            <a:r>
              <a:t>Waste Classification Apps (Oscar, TrashBot)</a:t>
            </a:r>
          </a:p>
        </p:txBody>
      </p:sp>
      <p:sp>
        <p:nvSpPr>
          <p:cNvPr id="13" name="TextBox 12"/>
          <p:cNvSpPr txBox="1"/>
          <p:nvPr/>
        </p:nvSpPr>
        <p:spPr>
          <a:xfrm>
            <a:off x="4114800" y="3840480"/>
            <a:ext cx="7589520" cy="822960"/>
          </a:xfrm>
          <a:prstGeom prst="rect">
            <a:avLst/>
          </a:prstGeom>
          <a:noFill/>
        </p:spPr>
        <p:txBody>
          <a:bodyPr wrap="square">
            <a:spAutoFit/>
          </a:bodyPr>
          <a:lstStyle/>
          <a:p>
            <a:pPr algn="l">
              <a:defRPr sz="1200" b="0">
                <a:solidFill>
                  <a:srgbClr val="2C3E50"/>
                </a:solidFill>
                <a:latin typeface="Calibri"/>
              </a:defRPr>
            </a:pPr>
            <a:r>
              <a:t>AI-based sorting at source using cameras; limited to classification only — no collection management, booking, or community engagement.</a:t>
            </a:r>
          </a:p>
        </p:txBody>
      </p:sp>
      <p:sp>
        <p:nvSpPr>
          <p:cNvPr id="14" name="TextBox 13"/>
          <p:cNvSpPr txBox="1"/>
          <p:nvPr/>
        </p:nvSpPr>
        <p:spPr>
          <a:xfrm>
            <a:off x="731520" y="4709160"/>
            <a:ext cx="3200400" cy="457200"/>
          </a:xfrm>
          <a:prstGeom prst="rect">
            <a:avLst/>
          </a:prstGeom>
          <a:noFill/>
        </p:spPr>
        <p:txBody>
          <a:bodyPr wrap="square">
            <a:spAutoFit/>
          </a:bodyPr>
          <a:lstStyle/>
          <a:p>
            <a:pPr algn="l">
              <a:defRPr sz="1300" b="1">
                <a:solidFill>
                  <a:srgbClr val="0D9276"/>
                </a:solidFill>
                <a:latin typeface="Calibri"/>
              </a:defRPr>
            </a:pPr>
            <a:r>
              <a:t>Route Optimization Platforms (Rubicon, Routeware)</a:t>
            </a:r>
          </a:p>
        </p:txBody>
      </p:sp>
      <p:sp>
        <p:nvSpPr>
          <p:cNvPr id="15" name="TextBox 14"/>
          <p:cNvSpPr txBox="1"/>
          <p:nvPr/>
        </p:nvSpPr>
        <p:spPr>
          <a:xfrm>
            <a:off x="4114800" y="4709160"/>
            <a:ext cx="7589520" cy="822960"/>
          </a:xfrm>
          <a:prstGeom prst="rect">
            <a:avLst/>
          </a:prstGeom>
          <a:noFill/>
        </p:spPr>
        <p:txBody>
          <a:bodyPr wrap="square">
            <a:spAutoFit/>
          </a:bodyPr>
          <a:lstStyle/>
          <a:p>
            <a:pPr algn="l">
              <a:defRPr sz="1200" b="0">
                <a:solidFill>
                  <a:srgbClr val="2C3E50"/>
                </a:solidFill>
                <a:latin typeface="Calibri"/>
              </a:defRPr>
            </a:pPr>
            <a:r>
              <a:t>GPS-based fleet management and route planning; enterprise-only pricing, no citizen-facing features, no waste type intelligence.</a:t>
            </a:r>
          </a:p>
        </p:txBody>
      </p:sp>
      <p:sp>
        <p:nvSpPr>
          <p:cNvPr id="16" name="TextBox 15"/>
          <p:cNvSpPr txBox="1"/>
          <p:nvPr/>
        </p:nvSpPr>
        <p:spPr>
          <a:xfrm>
            <a:off x="731520" y="5577840"/>
            <a:ext cx="3200400" cy="457200"/>
          </a:xfrm>
          <a:prstGeom prst="rect">
            <a:avLst/>
          </a:prstGeom>
          <a:noFill/>
        </p:spPr>
        <p:txBody>
          <a:bodyPr wrap="square">
            <a:spAutoFit/>
          </a:bodyPr>
          <a:lstStyle/>
          <a:p>
            <a:pPr algn="l">
              <a:defRPr sz="1300" b="1">
                <a:solidFill>
                  <a:srgbClr val="0D9276"/>
                </a:solidFill>
                <a:latin typeface="Calibri"/>
              </a:defRPr>
            </a:pPr>
            <a:r>
              <a:t>Research – IoT + ML Integration (IEEE/Springer)</a:t>
            </a:r>
          </a:p>
        </p:txBody>
      </p:sp>
      <p:sp>
        <p:nvSpPr>
          <p:cNvPr id="17" name="TextBox 16"/>
          <p:cNvSpPr txBox="1"/>
          <p:nvPr/>
        </p:nvSpPr>
        <p:spPr>
          <a:xfrm>
            <a:off x="4114800" y="5577840"/>
            <a:ext cx="7589520" cy="822960"/>
          </a:xfrm>
          <a:prstGeom prst="rect">
            <a:avLst/>
          </a:prstGeom>
          <a:noFill/>
        </p:spPr>
        <p:txBody>
          <a:bodyPr wrap="square">
            <a:spAutoFit/>
          </a:bodyPr>
          <a:lstStyle/>
          <a:p>
            <a:pPr algn="l">
              <a:defRPr sz="1200" b="0">
                <a:solidFill>
                  <a:srgbClr val="2C3E50"/>
                </a:solidFill>
                <a:latin typeface="Calibri"/>
              </a:defRPr>
            </a:pPr>
            <a:r>
              <a:t>Papers propose combining ultrasonic sensors with ML for smart bins, but lack full-stack implementations covering the entire waste lifecycle.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731520"/>
          </a:xfrm>
          <a:prstGeom prst="rect">
            <a:avLst/>
          </a:prstGeom>
          <a:noFill/>
        </p:spPr>
        <p:txBody>
          <a:bodyPr wrap="square">
            <a:spAutoFit/>
          </a:bodyPr>
          <a:lstStyle/>
          <a:p>
            <a:pPr algn="l">
              <a:defRPr sz="3200" b="1">
                <a:solidFill>
                  <a:srgbClr val="0D9276"/>
                </a:solidFill>
                <a:latin typeface="Calibri"/>
              </a:defRPr>
            </a:pPr>
            <a:r>
              <a:t>Background — Gap Analysis</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188720"/>
            <a:ext cx="10058400" cy="457200"/>
          </a:xfrm>
          <a:prstGeom prst="rect">
            <a:avLst/>
          </a:prstGeom>
          <a:noFill/>
        </p:spPr>
        <p:txBody>
          <a:bodyPr wrap="square">
            <a:spAutoFit/>
          </a:bodyPr>
          <a:lstStyle/>
          <a:p>
            <a:pPr algn="l">
              <a:defRPr sz="1400" b="0">
                <a:solidFill>
                  <a:srgbClr val="BDC3C7"/>
                </a:solidFill>
                <a:latin typeface="Calibri"/>
              </a:defRPr>
            </a:pPr>
            <a:r>
              <a:t>Why existing solutions fall short</a:t>
            </a:r>
          </a:p>
        </p:txBody>
      </p:sp>
      <p:sp>
        <p:nvSpPr>
          <p:cNvPr id="7" name="TextBox 6"/>
          <p:cNvSpPr txBox="1"/>
          <p:nvPr/>
        </p:nvSpPr>
        <p:spPr>
          <a:xfrm>
            <a:off x="731520" y="1371600"/>
            <a:ext cx="10515600" cy="914400"/>
          </a:xfrm>
          <a:prstGeom prst="rect">
            <a:avLst/>
          </a:prstGeom>
          <a:noFill/>
        </p:spPr>
        <p:txBody>
          <a:bodyPr wrap="square">
            <a:spAutoFit/>
          </a:bodyPr>
          <a:lstStyle/>
          <a:p>
            <a:pPr algn="l">
              <a:defRPr sz="1500" b="0">
                <a:solidFill>
                  <a:srgbClr val="2C3E50"/>
                </a:solidFill>
                <a:latin typeface="Calibri"/>
              </a:defRPr>
            </a:pPr>
            <a:r>
              <a:t>Despite the availability of individual components like IoT sensors, AI classifiers, and route optimization tools, no existing solution provides an integrated, end-to-end platform that combines all these capabilities into a single, affordable, and community-driven system.</a:t>
            </a:r>
          </a:p>
        </p:txBody>
      </p:sp>
      <p:sp>
        <p:nvSpPr>
          <p:cNvPr id="8" name="TextBox 7"/>
          <p:cNvSpPr txBox="1"/>
          <p:nvPr/>
        </p:nvSpPr>
        <p:spPr>
          <a:xfrm>
            <a:off x="731520" y="2377440"/>
            <a:ext cx="10058400" cy="457200"/>
          </a:xfrm>
          <a:prstGeom prst="rect">
            <a:avLst/>
          </a:prstGeom>
          <a:noFill/>
        </p:spPr>
        <p:txBody>
          <a:bodyPr wrap="square">
            <a:spAutoFit/>
          </a:bodyPr>
          <a:lstStyle/>
          <a:p>
            <a:pPr algn="l">
              <a:defRPr sz="1800" b="1">
                <a:solidFill>
                  <a:srgbClr val="E67E22"/>
                </a:solidFill>
                <a:latin typeface="Calibri"/>
              </a:defRPr>
            </a:pPr>
            <a:r>
              <a:t>Key Gaps Identified:</a:t>
            </a:r>
          </a:p>
        </p:txBody>
      </p:sp>
      <p:sp>
        <p:nvSpPr>
          <p:cNvPr id="9" name="TextBox 8"/>
          <p:cNvSpPr txBox="1"/>
          <p:nvPr/>
        </p:nvSpPr>
        <p:spPr>
          <a:xfrm>
            <a:off x="914400" y="2926080"/>
            <a:ext cx="10058400" cy="3200400"/>
          </a:xfrm>
          <a:prstGeom prst="rect">
            <a:avLst/>
          </a:prstGeom>
          <a:noFill/>
        </p:spPr>
        <p:txBody>
          <a:bodyPr wrap="square">
            <a:spAutoFit/>
          </a:bodyPr>
          <a:lstStyle/>
          <a:p>
            <a:pPr>
              <a:lnSpc>
                <a:spcPts val="2250"/>
              </a:lnSpc>
              <a:spcAft>
                <a:spcPts val="600"/>
              </a:spcAft>
              <a:defRPr sz="1500">
                <a:solidFill>
                  <a:srgbClr val="2C3E50"/>
                </a:solidFill>
                <a:latin typeface="Calibri"/>
              </a:defRPr>
            </a:pPr>
            <a:r>
              <a:t>✗  No unified platform combining AI classification + IoT monitoring + collection management</a:t>
            </a:r>
          </a:p>
          <a:p>
            <a:pPr>
              <a:lnSpc>
                <a:spcPts val="2250"/>
              </a:lnSpc>
              <a:spcAft>
                <a:spcPts val="600"/>
              </a:spcAft>
              <a:defRPr sz="1500">
                <a:solidFill>
                  <a:srgbClr val="2C3E50"/>
                </a:solidFill>
                <a:latin typeface="Calibri"/>
              </a:defRPr>
            </a:pPr>
            <a:r>
              <a:t>✗  Existing smart bin solutions are prohibitively expensive for developing countries</a:t>
            </a:r>
          </a:p>
          <a:p>
            <a:pPr>
              <a:lnSpc>
                <a:spcPts val="2250"/>
              </a:lnSpc>
              <a:spcAft>
                <a:spcPts val="600"/>
              </a:spcAft>
              <a:defRPr sz="1500">
                <a:solidFill>
                  <a:srgbClr val="2C3E50"/>
                </a:solidFill>
                <a:latin typeface="Calibri"/>
              </a:defRPr>
            </a:pPr>
            <a:r>
              <a:t>✗  No gamification or community engagement features in current commercial systems</a:t>
            </a:r>
          </a:p>
          <a:p>
            <a:pPr>
              <a:lnSpc>
                <a:spcPts val="2250"/>
              </a:lnSpc>
              <a:spcAft>
                <a:spcPts val="600"/>
              </a:spcAft>
              <a:defRPr sz="1500">
                <a:solidFill>
                  <a:srgbClr val="2C3E50"/>
                </a:solidFill>
                <a:latin typeface="Calibri"/>
              </a:defRPr>
            </a:pPr>
            <a:r>
              <a:t>✗  Research prototypes lack production-ready full-stack implementations</a:t>
            </a:r>
          </a:p>
          <a:p>
            <a:pPr>
              <a:lnSpc>
                <a:spcPts val="2250"/>
              </a:lnSpc>
              <a:spcAft>
                <a:spcPts val="600"/>
              </a:spcAft>
              <a:defRPr sz="1500">
                <a:solidFill>
                  <a:srgbClr val="2C3E50"/>
                </a:solidFill>
                <a:latin typeface="Calibri"/>
              </a:defRPr>
            </a:pPr>
            <a:r>
              <a:t>✗  No role-based multi-stakeholder support (citizen, collector, admin) in one platform</a:t>
            </a:r>
          </a:p>
          <a:p>
            <a:pPr>
              <a:lnSpc>
                <a:spcPts val="2250"/>
              </a:lnSpc>
              <a:spcAft>
                <a:spcPts val="600"/>
              </a:spcAft>
              <a:defRPr sz="1500">
                <a:solidFill>
                  <a:srgbClr val="2C3E50"/>
                </a:solidFill>
                <a:latin typeface="Calibri"/>
              </a:defRPr>
            </a:pPr>
            <a:r>
              <a:t>✗  Limited real-time analytics and data-driven insights for municipal decision-making</a:t>
            </a:r>
          </a:p>
        </p:txBody>
      </p:sp>
      <p:sp>
        <p:nvSpPr>
          <p:cNvPr id="10" name="TextBox 9"/>
          <p:cNvSpPr txBox="1"/>
          <p:nvPr/>
        </p:nvSpPr>
        <p:spPr>
          <a:xfrm>
            <a:off x="731520" y="5669280"/>
            <a:ext cx="10515600" cy="731520"/>
          </a:xfrm>
          <a:prstGeom prst="rect">
            <a:avLst/>
          </a:prstGeom>
          <a:noFill/>
        </p:spPr>
        <p:txBody>
          <a:bodyPr wrap="square">
            <a:spAutoFit/>
          </a:bodyPr>
          <a:lstStyle/>
          <a:p>
            <a:pPr algn="l">
              <a:defRPr sz="1500" b="1">
                <a:solidFill>
                  <a:srgbClr val="27AE60"/>
                </a:solidFill>
                <a:latin typeface="Calibri"/>
              </a:defRPr>
            </a:pPr>
            <a:r>
              <a:t>SmartWaste360 bridges these gaps by delivering an affordable, open-source, full-stack platform that unifies AI, IoT, and community engagement.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731520"/>
          </a:xfrm>
          <a:prstGeom prst="rect">
            <a:avLst/>
          </a:prstGeom>
          <a:noFill/>
        </p:spPr>
        <p:txBody>
          <a:bodyPr wrap="square">
            <a:spAutoFit/>
          </a:bodyPr>
          <a:lstStyle/>
          <a:p>
            <a:pPr algn="l">
              <a:defRPr sz="3200" b="1">
                <a:solidFill>
                  <a:srgbClr val="0D9276"/>
                </a:solidFill>
                <a:latin typeface="Calibri"/>
              </a:defRPr>
            </a:pPr>
            <a:r>
              <a:t>Problem Statement</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63040"/>
            <a:ext cx="10515600" cy="1097280"/>
          </a:xfrm>
          <a:prstGeom prst="rect">
            <a:avLst/>
          </a:prstGeom>
          <a:noFill/>
        </p:spPr>
        <p:txBody>
          <a:bodyPr wrap="square">
            <a:spAutoFit/>
          </a:bodyPr>
          <a:lstStyle/>
          <a:p>
            <a:pPr algn="l">
              <a:defRPr sz="1600" b="0">
                <a:solidFill>
                  <a:srgbClr val="2C3E50"/>
                </a:solidFill>
                <a:latin typeface="Calibri"/>
              </a:defRPr>
            </a:pPr>
            <a:r>
              <a:t>Urban areas across India generate over 62 million tonnes of municipal solid waste annually, yet only 20% is effectively processed and recycled. The remaining 80% ends up in open dumps and landfills, causing severe environmental pollution, public health hazards, and groundwater contamination. Key challenges include:</a:t>
            </a:r>
          </a:p>
        </p:txBody>
      </p:sp>
      <p:sp>
        <p:nvSpPr>
          <p:cNvPr id="7" name="TextBox 6"/>
          <p:cNvSpPr txBox="1"/>
          <p:nvPr/>
        </p:nvSpPr>
        <p:spPr>
          <a:xfrm>
            <a:off x="914400" y="2651760"/>
            <a:ext cx="10058400" cy="2743200"/>
          </a:xfrm>
          <a:prstGeom prst="rect">
            <a:avLst/>
          </a:prstGeom>
          <a:noFill/>
        </p:spPr>
        <p:txBody>
          <a:bodyPr wrap="square">
            <a:spAutoFit/>
          </a:bodyPr>
          <a:lstStyle/>
          <a:p>
            <a:pPr>
              <a:lnSpc>
                <a:spcPts val="2250"/>
              </a:lnSpc>
              <a:spcAft>
                <a:spcPts val="600"/>
              </a:spcAft>
              <a:defRPr sz="1500">
                <a:solidFill>
                  <a:srgbClr val="2C3E50"/>
                </a:solidFill>
                <a:latin typeface="Calibri"/>
              </a:defRPr>
            </a:pPr>
            <a:r>
              <a:t>⚠  Lack of waste segregation at source — residents have no easy way to identify waste types</a:t>
            </a:r>
          </a:p>
          <a:p>
            <a:pPr>
              <a:lnSpc>
                <a:spcPts val="2250"/>
              </a:lnSpc>
              <a:spcAft>
                <a:spcPts val="600"/>
              </a:spcAft>
              <a:defRPr sz="1500">
                <a:solidFill>
                  <a:srgbClr val="2C3E50"/>
                </a:solidFill>
                <a:latin typeface="Calibri"/>
              </a:defRPr>
            </a:pPr>
            <a:r>
              <a:t>⚠  Inefficient collection schedules — bins overflow, routes are unoptimized, fuel is wasted</a:t>
            </a:r>
          </a:p>
          <a:p>
            <a:pPr>
              <a:lnSpc>
                <a:spcPts val="2250"/>
              </a:lnSpc>
              <a:spcAft>
                <a:spcPts val="600"/>
              </a:spcAft>
              <a:defRPr sz="1500">
                <a:solidFill>
                  <a:srgbClr val="2C3E50"/>
                </a:solidFill>
                <a:latin typeface="Calibri"/>
              </a:defRPr>
            </a:pPr>
            <a:r>
              <a:t>⚠  No real-time monitoring — municipalities lack visibility into bin fill levels and collection status</a:t>
            </a:r>
          </a:p>
          <a:p>
            <a:pPr>
              <a:lnSpc>
                <a:spcPts val="2250"/>
              </a:lnSpc>
              <a:spcAft>
                <a:spcPts val="600"/>
              </a:spcAft>
              <a:defRPr sz="1500">
                <a:solidFill>
                  <a:srgbClr val="2C3E50"/>
                </a:solidFill>
                <a:latin typeface="Calibri"/>
              </a:defRPr>
            </a:pPr>
            <a:r>
              <a:t>⚠  Absence of citizen engagement — no incentives or feedback loops for proper waste disposal</a:t>
            </a:r>
          </a:p>
          <a:p>
            <a:pPr>
              <a:lnSpc>
                <a:spcPts val="2250"/>
              </a:lnSpc>
              <a:spcAft>
                <a:spcPts val="600"/>
              </a:spcAft>
              <a:defRPr sz="1500">
                <a:solidFill>
                  <a:srgbClr val="2C3E50"/>
                </a:solidFill>
                <a:latin typeface="Calibri"/>
              </a:defRPr>
            </a:pPr>
            <a:r>
              <a:t>⚠  Data silos — waste data is fragmented across departments, preventing informed decision-making</a:t>
            </a:r>
          </a:p>
        </p:txBody>
      </p:sp>
      <p:sp>
        <p:nvSpPr>
          <p:cNvPr id="8" name="TextBox 7"/>
          <p:cNvSpPr txBox="1"/>
          <p:nvPr/>
        </p:nvSpPr>
        <p:spPr>
          <a:xfrm>
            <a:off x="1371600" y="5120640"/>
            <a:ext cx="9418320" cy="1371600"/>
          </a:xfrm>
          <a:prstGeom prst="rect">
            <a:avLst/>
          </a:prstGeom>
          <a:noFill/>
        </p:spPr>
        <p:txBody>
          <a:bodyPr wrap="square">
            <a:spAutoFit/>
          </a:bodyPr>
          <a:lstStyle/>
          <a:p>
            <a:pPr algn="ctr">
              <a:defRPr sz="1600" b="1">
                <a:solidFill>
                  <a:srgbClr val="0D9276"/>
                </a:solidFill>
                <a:latin typeface="Calibri"/>
              </a:defRPr>
            </a:pPr>
            <a:r>
              <a:t>"How can we design and develop an integrated, AI-powered waste management platform that enables automated waste classification, real-time collection monitoring through IoT sensors, and community-driven engagement to significantly improve urban waste management efficiency?"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731520"/>
          </a:xfrm>
          <a:prstGeom prst="rect">
            <a:avLst/>
          </a:prstGeom>
          <a:noFill/>
        </p:spPr>
        <p:txBody>
          <a:bodyPr wrap="square">
            <a:spAutoFit/>
          </a:bodyPr>
          <a:lstStyle/>
          <a:p>
            <a:pPr algn="l">
              <a:defRPr sz="3200" b="1">
                <a:solidFill>
                  <a:srgbClr val="0D9276"/>
                </a:solidFill>
                <a:latin typeface="Calibri"/>
              </a:defRPr>
            </a:pPr>
            <a:r>
              <a:t>Motivation to Choose This Problem</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63040"/>
            <a:ext cx="3657600" cy="457200"/>
          </a:xfrm>
          <a:prstGeom prst="rect">
            <a:avLst/>
          </a:prstGeom>
          <a:noFill/>
        </p:spPr>
        <p:txBody>
          <a:bodyPr wrap="square">
            <a:spAutoFit/>
          </a:bodyPr>
          <a:lstStyle/>
          <a:p>
            <a:pPr algn="l">
              <a:defRPr sz="1500" b="1">
                <a:solidFill>
                  <a:srgbClr val="0D9276"/>
                </a:solidFill>
                <a:latin typeface="Calibri"/>
              </a:defRPr>
            </a:pPr>
            <a:r>
              <a:t>🌍  Environmental Impact</a:t>
            </a:r>
          </a:p>
        </p:txBody>
      </p:sp>
      <p:sp>
        <p:nvSpPr>
          <p:cNvPr id="7" name="TextBox 6"/>
          <p:cNvSpPr txBox="1"/>
          <p:nvPr/>
        </p:nvSpPr>
        <p:spPr>
          <a:xfrm>
            <a:off x="4389120" y="1463040"/>
            <a:ext cx="7315200" cy="731520"/>
          </a:xfrm>
          <a:prstGeom prst="rect">
            <a:avLst/>
          </a:prstGeom>
          <a:noFill/>
        </p:spPr>
        <p:txBody>
          <a:bodyPr wrap="square">
            <a:spAutoFit/>
          </a:bodyPr>
          <a:lstStyle/>
          <a:p>
            <a:pPr algn="l">
              <a:defRPr sz="1300" b="0">
                <a:solidFill>
                  <a:srgbClr val="2C3E50"/>
                </a:solidFill>
                <a:latin typeface="Calibri"/>
              </a:defRPr>
            </a:pPr>
            <a:r>
              <a:t>Improper waste disposal is a leading cause of soil and water pollution. Our platform directly contributes to better waste segregation and recycling.</a:t>
            </a:r>
          </a:p>
        </p:txBody>
      </p:sp>
      <p:sp>
        <p:nvSpPr>
          <p:cNvPr id="8" name="TextBox 7"/>
          <p:cNvSpPr txBox="1"/>
          <p:nvPr/>
        </p:nvSpPr>
        <p:spPr>
          <a:xfrm>
            <a:off x="731520" y="2286000"/>
            <a:ext cx="3657600" cy="457200"/>
          </a:xfrm>
          <a:prstGeom prst="rect">
            <a:avLst/>
          </a:prstGeom>
          <a:noFill/>
        </p:spPr>
        <p:txBody>
          <a:bodyPr wrap="square">
            <a:spAutoFit/>
          </a:bodyPr>
          <a:lstStyle/>
          <a:p>
            <a:pPr algn="l">
              <a:defRPr sz="1500" b="1">
                <a:solidFill>
                  <a:srgbClr val="0D9276"/>
                </a:solidFill>
                <a:latin typeface="Calibri"/>
              </a:defRPr>
            </a:pPr>
            <a:r>
              <a:t>🏙️  Smart City Relevance</a:t>
            </a:r>
          </a:p>
        </p:txBody>
      </p:sp>
      <p:sp>
        <p:nvSpPr>
          <p:cNvPr id="9" name="TextBox 8"/>
          <p:cNvSpPr txBox="1"/>
          <p:nvPr/>
        </p:nvSpPr>
        <p:spPr>
          <a:xfrm>
            <a:off x="4389120" y="2286000"/>
            <a:ext cx="7315200" cy="731520"/>
          </a:xfrm>
          <a:prstGeom prst="rect">
            <a:avLst/>
          </a:prstGeom>
          <a:noFill/>
        </p:spPr>
        <p:txBody>
          <a:bodyPr wrap="square">
            <a:spAutoFit/>
          </a:bodyPr>
          <a:lstStyle/>
          <a:p>
            <a:pPr algn="l">
              <a:defRPr sz="1300" b="0">
                <a:solidFill>
                  <a:srgbClr val="2C3E50"/>
                </a:solidFill>
                <a:latin typeface="Calibri"/>
              </a:defRPr>
            </a:pPr>
            <a:r>
              <a:t>Aligns with India's Smart Cities Mission and Swachh Bharat Abhiyan initiatives, making it highly relevant for government adoption.</a:t>
            </a:r>
          </a:p>
        </p:txBody>
      </p:sp>
      <p:sp>
        <p:nvSpPr>
          <p:cNvPr id="10" name="TextBox 9"/>
          <p:cNvSpPr txBox="1"/>
          <p:nvPr/>
        </p:nvSpPr>
        <p:spPr>
          <a:xfrm>
            <a:off x="731520" y="3108960"/>
            <a:ext cx="3657600" cy="457200"/>
          </a:xfrm>
          <a:prstGeom prst="rect">
            <a:avLst/>
          </a:prstGeom>
          <a:noFill/>
        </p:spPr>
        <p:txBody>
          <a:bodyPr wrap="square">
            <a:spAutoFit/>
          </a:bodyPr>
          <a:lstStyle/>
          <a:p>
            <a:pPr algn="l">
              <a:defRPr sz="1500" b="1">
                <a:solidFill>
                  <a:srgbClr val="0D9276"/>
                </a:solidFill>
                <a:latin typeface="Calibri"/>
              </a:defRPr>
            </a:pPr>
            <a:r>
              <a:t>🤖  AI &amp; IoT Convergence</a:t>
            </a:r>
          </a:p>
        </p:txBody>
      </p:sp>
      <p:sp>
        <p:nvSpPr>
          <p:cNvPr id="11" name="TextBox 10"/>
          <p:cNvSpPr txBox="1"/>
          <p:nvPr/>
        </p:nvSpPr>
        <p:spPr>
          <a:xfrm>
            <a:off x="4389120" y="3108960"/>
            <a:ext cx="7315200" cy="731520"/>
          </a:xfrm>
          <a:prstGeom prst="rect">
            <a:avLst/>
          </a:prstGeom>
          <a:noFill/>
        </p:spPr>
        <p:txBody>
          <a:bodyPr wrap="square">
            <a:spAutoFit/>
          </a:bodyPr>
          <a:lstStyle/>
          <a:p>
            <a:pPr algn="l">
              <a:defRPr sz="1300" b="0">
                <a:solidFill>
                  <a:srgbClr val="2C3E50"/>
                </a:solidFill>
                <a:latin typeface="Calibri"/>
              </a:defRPr>
            </a:pPr>
            <a:r>
              <a:t>Opportunity to apply cutting-edge AI (Gemini) and IoT (ultrasonic sensors) technologies to solve a real-world problem at scale.</a:t>
            </a:r>
          </a:p>
        </p:txBody>
      </p:sp>
      <p:sp>
        <p:nvSpPr>
          <p:cNvPr id="12" name="TextBox 11"/>
          <p:cNvSpPr txBox="1"/>
          <p:nvPr/>
        </p:nvSpPr>
        <p:spPr>
          <a:xfrm>
            <a:off x="731520" y="3931920"/>
            <a:ext cx="3657600" cy="457200"/>
          </a:xfrm>
          <a:prstGeom prst="rect">
            <a:avLst/>
          </a:prstGeom>
          <a:noFill/>
        </p:spPr>
        <p:txBody>
          <a:bodyPr wrap="square">
            <a:spAutoFit/>
          </a:bodyPr>
          <a:lstStyle/>
          <a:p>
            <a:pPr algn="l">
              <a:defRPr sz="1500" b="1">
                <a:solidFill>
                  <a:srgbClr val="0D9276"/>
                </a:solidFill>
                <a:latin typeface="Calibri"/>
              </a:defRPr>
            </a:pPr>
            <a:r>
              <a:t>👥  Community Engagement</a:t>
            </a:r>
          </a:p>
        </p:txBody>
      </p:sp>
      <p:sp>
        <p:nvSpPr>
          <p:cNvPr id="13" name="TextBox 12"/>
          <p:cNvSpPr txBox="1"/>
          <p:nvPr/>
        </p:nvSpPr>
        <p:spPr>
          <a:xfrm>
            <a:off x="4389120" y="3931920"/>
            <a:ext cx="7315200" cy="731520"/>
          </a:xfrm>
          <a:prstGeom prst="rect">
            <a:avLst/>
          </a:prstGeom>
          <a:noFill/>
        </p:spPr>
        <p:txBody>
          <a:bodyPr wrap="square">
            <a:spAutoFit/>
          </a:bodyPr>
          <a:lstStyle/>
          <a:p>
            <a:pPr algn="l">
              <a:defRPr sz="1300" b="0">
                <a:solidFill>
                  <a:srgbClr val="2C3E50"/>
                </a:solidFill>
                <a:latin typeface="Calibri"/>
              </a:defRPr>
            </a:pPr>
            <a:r>
              <a:t>Gamification and leaderboards can transform waste management from a chore into a community-driven activity, increasing participation.</a:t>
            </a:r>
          </a:p>
        </p:txBody>
      </p:sp>
      <p:sp>
        <p:nvSpPr>
          <p:cNvPr id="14" name="TextBox 13"/>
          <p:cNvSpPr txBox="1"/>
          <p:nvPr/>
        </p:nvSpPr>
        <p:spPr>
          <a:xfrm>
            <a:off x="731520" y="4754880"/>
            <a:ext cx="3657600" cy="457200"/>
          </a:xfrm>
          <a:prstGeom prst="rect">
            <a:avLst/>
          </a:prstGeom>
          <a:noFill/>
        </p:spPr>
        <p:txBody>
          <a:bodyPr wrap="square">
            <a:spAutoFit/>
          </a:bodyPr>
          <a:lstStyle/>
          <a:p>
            <a:pPr algn="l">
              <a:defRPr sz="1500" b="1">
                <a:solidFill>
                  <a:srgbClr val="0D9276"/>
                </a:solidFill>
                <a:latin typeface="Calibri"/>
              </a:defRPr>
            </a:pPr>
            <a:r>
              <a:t>📊  Data-Driven Governance</a:t>
            </a:r>
          </a:p>
        </p:txBody>
      </p:sp>
      <p:sp>
        <p:nvSpPr>
          <p:cNvPr id="15" name="TextBox 14"/>
          <p:cNvSpPr txBox="1"/>
          <p:nvPr/>
        </p:nvSpPr>
        <p:spPr>
          <a:xfrm>
            <a:off x="4389120" y="4754880"/>
            <a:ext cx="7315200" cy="731520"/>
          </a:xfrm>
          <a:prstGeom prst="rect">
            <a:avLst/>
          </a:prstGeom>
          <a:noFill/>
        </p:spPr>
        <p:txBody>
          <a:bodyPr wrap="square">
            <a:spAutoFit/>
          </a:bodyPr>
          <a:lstStyle/>
          <a:p>
            <a:pPr algn="l">
              <a:defRPr sz="1300" b="0">
                <a:solidFill>
                  <a:srgbClr val="2C3E50"/>
                </a:solidFill>
                <a:latin typeface="Calibri"/>
              </a:defRPr>
            </a:pPr>
            <a:r>
              <a:t>Real-time analytics can empower municipal bodies to make informed decisions about resource allocation and policy planning.</a:t>
            </a:r>
          </a:p>
        </p:txBody>
      </p:sp>
      <p:sp>
        <p:nvSpPr>
          <p:cNvPr id="16" name="TextBox 15"/>
          <p:cNvSpPr txBox="1"/>
          <p:nvPr/>
        </p:nvSpPr>
        <p:spPr>
          <a:xfrm>
            <a:off x="731520" y="5577840"/>
            <a:ext cx="3657600" cy="457200"/>
          </a:xfrm>
          <a:prstGeom prst="rect">
            <a:avLst/>
          </a:prstGeom>
          <a:noFill/>
        </p:spPr>
        <p:txBody>
          <a:bodyPr wrap="square">
            <a:spAutoFit/>
          </a:bodyPr>
          <a:lstStyle/>
          <a:p>
            <a:pPr algn="l">
              <a:defRPr sz="1500" b="1">
                <a:solidFill>
                  <a:srgbClr val="0D9276"/>
                </a:solidFill>
                <a:latin typeface="Calibri"/>
              </a:defRPr>
            </a:pPr>
            <a:r>
              <a:t>💡  Full-Stack Learning</a:t>
            </a:r>
          </a:p>
        </p:txBody>
      </p:sp>
      <p:sp>
        <p:nvSpPr>
          <p:cNvPr id="17" name="TextBox 16"/>
          <p:cNvSpPr txBox="1"/>
          <p:nvPr/>
        </p:nvSpPr>
        <p:spPr>
          <a:xfrm>
            <a:off x="4389120" y="5577840"/>
            <a:ext cx="7315200" cy="731520"/>
          </a:xfrm>
          <a:prstGeom prst="rect">
            <a:avLst/>
          </a:prstGeom>
          <a:noFill/>
        </p:spPr>
        <p:txBody>
          <a:bodyPr wrap="square">
            <a:spAutoFit/>
          </a:bodyPr>
          <a:lstStyle/>
          <a:p>
            <a:pPr algn="l">
              <a:defRPr sz="1300" b="0">
                <a:solidFill>
                  <a:srgbClr val="2C3E50"/>
                </a:solidFill>
                <a:latin typeface="Calibri"/>
              </a:defRPr>
            </a:pPr>
            <a:r>
              <a:t>The project provides end-to-end exposure to modern web development, cloud deployment, AI/ML integration, and IoT — all in one project.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731520"/>
          </a:xfrm>
          <a:prstGeom prst="rect">
            <a:avLst/>
          </a:prstGeom>
          <a:noFill/>
        </p:spPr>
        <p:txBody>
          <a:bodyPr wrap="square">
            <a:spAutoFit/>
          </a:bodyPr>
          <a:lstStyle/>
          <a:p>
            <a:pPr algn="l">
              <a:defRPr sz="3200" b="1">
                <a:solidFill>
                  <a:srgbClr val="0D9276"/>
                </a:solidFill>
                <a:latin typeface="Calibri"/>
              </a:defRPr>
            </a:pPr>
            <a:r>
              <a:t>System Functions &amp; Features</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5029200" cy="457200"/>
          </a:xfrm>
          <a:prstGeom prst="rect">
            <a:avLst/>
          </a:prstGeom>
          <a:noFill/>
        </p:spPr>
        <p:txBody>
          <a:bodyPr wrap="square">
            <a:spAutoFit/>
          </a:bodyPr>
          <a:lstStyle/>
          <a:p>
            <a:pPr algn="l">
              <a:defRPr sz="1800" b="1">
                <a:solidFill>
                  <a:srgbClr val="0D9276"/>
                </a:solidFill>
                <a:latin typeface="Calibri"/>
              </a:defRPr>
            </a:pPr>
            <a:r>
              <a:t>Core Features</a:t>
            </a:r>
          </a:p>
        </p:txBody>
      </p:sp>
      <p:sp>
        <p:nvSpPr>
          <p:cNvPr id="7" name="TextBox 6"/>
          <p:cNvSpPr txBox="1"/>
          <p:nvPr/>
        </p:nvSpPr>
        <p:spPr>
          <a:xfrm>
            <a:off x="731520" y="1920240"/>
            <a:ext cx="5303520" cy="4114800"/>
          </a:xfrm>
          <a:prstGeom prst="rect">
            <a:avLst/>
          </a:prstGeom>
          <a:noFill/>
        </p:spPr>
        <p:txBody>
          <a:bodyPr wrap="square">
            <a:spAutoFit/>
          </a:bodyPr>
          <a:lstStyle/>
          <a:p>
            <a:pPr>
              <a:lnSpc>
                <a:spcPts val="2100"/>
              </a:lnSpc>
              <a:spcAft>
                <a:spcPts val="600"/>
              </a:spcAft>
              <a:defRPr sz="1400">
                <a:solidFill>
                  <a:srgbClr val="2C3E50"/>
                </a:solidFill>
                <a:latin typeface="Calibri"/>
              </a:defRPr>
            </a:pPr>
            <a:r>
              <a:t>✦  AI Waste Classification via camera (Google Gemini)</a:t>
            </a:r>
          </a:p>
          <a:p>
            <a:pPr>
              <a:lnSpc>
                <a:spcPts val="2100"/>
              </a:lnSpc>
              <a:spcAft>
                <a:spcPts val="600"/>
              </a:spcAft>
              <a:defRPr sz="1400">
                <a:solidFill>
                  <a:srgbClr val="2C3E50"/>
                </a:solidFill>
                <a:latin typeface="Calibri"/>
              </a:defRPr>
            </a:pPr>
            <a:r>
              <a:t>✦  User Registration &amp; JWT Authentication</a:t>
            </a:r>
          </a:p>
          <a:p>
            <a:pPr>
              <a:lnSpc>
                <a:spcPts val="2100"/>
              </a:lnSpc>
              <a:spcAft>
                <a:spcPts val="600"/>
              </a:spcAft>
              <a:defRPr sz="1400">
                <a:solidFill>
                  <a:srgbClr val="2C3E50"/>
                </a:solidFill>
                <a:latin typeface="Calibri"/>
              </a:defRPr>
            </a:pPr>
            <a:r>
              <a:t>✦  Waste Collection Booking System</a:t>
            </a:r>
          </a:p>
          <a:p>
            <a:pPr>
              <a:lnSpc>
                <a:spcPts val="2100"/>
              </a:lnSpc>
              <a:spcAft>
                <a:spcPts val="600"/>
              </a:spcAft>
              <a:defRPr sz="1400">
                <a:solidFill>
                  <a:srgbClr val="2C3E50"/>
                </a:solidFill>
                <a:latin typeface="Calibri"/>
              </a:defRPr>
            </a:pPr>
            <a:r>
              <a:t>✦  Colony-based Collection Point Management</a:t>
            </a:r>
          </a:p>
          <a:p>
            <a:pPr>
              <a:lnSpc>
                <a:spcPts val="2100"/>
              </a:lnSpc>
              <a:spcAft>
                <a:spcPts val="600"/>
              </a:spcAft>
              <a:defRPr sz="1400">
                <a:solidFill>
                  <a:srgbClr val="2C3E50"/>
                </a:solidFill>
                <a:latin typeface="Calibri"/>
              </a:defRPr>
            </a:pPr>
            <a:r>
              <a:t>✦  Gamified Leaderboard &amp; Reward Points</a:t>
            </a:r>
          </a:p>
          <a:p>
            <a:pPr>
              <a:lnSpc>
                <a:spcPts val="2100"/>
              </a:lnSpc>
              <a:spcAft>
                <a:spcPts val="600"/>
              </a:spcAft>
              <a:defRPr sz="1400">
                <a:solidFill>
                  <a:srgbClr val="2C3E50"/>
                </a:solidFill>
                <a:latin typeface="Calibri"/>
              </a:defRPr>
            </a:pPr>
            <a:r>
              <a:t>✦  Real-time Interactive Maps (Leaflet.js)</a:t>
            </a:r>
          </a:p>
        </p:txBody>
      </p:sp>
      <p:sp>
        <p:nvSpPr>
          <p:cNvPr id="8" name="TextBox 7"/>
          <p:cNvSpPr txBox="1"/>
          <p:nvPr/>
        </p:nvSpPr>
        <p:spPr>
          <a:xfrm>
            <a:off x="6400800" y="1371600"/>
            <a:ext cx="5029200" cy="457200"/>
          </a:xfrm>
          <a:prstGeom prst="rect">
            <a:avLst/>
          </a:prstGeom>
          <a:noFill/>
        </p:spPr>
        <p:txBody>
          <a:bodyPr wrap="square">
            <a:spAutoFit/>
          </a:bodyPr>
          <a:lstStyle/>
          <a:p>
            <a:pPr algn="l">
              <a:defRPr sz="1800" b="1">
                <a:solidFill>
                  <a:srgbClr val="0D9276"/>
                </a:solidFill>
                <a:latin typeface="Calibri"/>
              </a:defRPr>
            </a:pPr>
            <a:r>
              <a:t>Platform Capabilities</a:t>
            </a:r>
          </a:p>
        </p:txBody>
      </p:sp>
      <p:sp>
        <p:nvSpPr>
          <p:cNvPr id="9" name="TextBox 8"/>
          <p:cNvSpPr txBox="1"/>
          <p:nvPr/>
        </p:nvSpPr>
        <p:spPr>
          <a:xfrm>
            <a:off x="6400800" y="1920240"/>
            <a:ext cx="5303520" cy="4114800"/>
          </a:xfrm>
          <a:prstGeom prst="rect">
            <a:avLst/>
          </a:prstGeom>
          <a:noFill/>
        </p:spPr>
        <p:txBody>
          <a:bodyPr wrap="square">
            <a:spAutoFit/>
          </a:bodyPr>
          <a:lstStyle/>
          <a:p>
            <a:pPr>
              <a:lnSpc>
                <a:spcPts val="2100"/>
              </a:lnSpc>
              <a:spcAft>
                <a:spcPts val="600"/>
              </a:spcAft>
              <a:defRPr sz="1400">
                <a:solidFill>
                  <a:srgbClr val="2C3E50"/>
                </a:solidFill>
                <a:latin typeface="Calibri"/>
              </a:defRPr>
            </a:pPr>
            <a:r>
              <a:t>✦  Role-based Dashboards (User / Collector / Admin)</a:t>
            </a:r>
          </a:p>
          <a:p>
            <a:pPr>
              <a:lnSpc>
                <a:spcPts val="2100"/>
              </a:lnSpc>
              <a:spcAft>
                <a:spcPts val="600"/>
              </a:spcAft>
              <a:defRPr sz="1400">
                <a:solidFill>
                  <a:srgbClr val="2C3E50"/>
                </a:solidFill>
                <a:latin typeface="Calibri"/>
              </a:defRPr>
            </a:pPr>
            <a:r>
              <a:t>✦  Collector Route Management &amp; Pickup Tracking</a:t>
            </a:r>
          </a:p>
          <a:p>
            <a:pPr>
              <a:lnSpc>
                <a:spcPts val="2100"/>
              </a:lnSpc>
              <a:spcAft>
                <a:spcPts val="600"/>
              </a:spcAft>
              <a:defRPr sz="1400">
                <a:solidFill>
                  <a:srgbClr val="2C3E50"/>
                </a:solidFill>
                <a:latin typeface="Calibri"/>
              </a:defRPr>
            </a:pPr>
            <a:r>
              <a:t>✦  Admin Analytics &amp; System Monitoring</a:t>
            </a:r>
          </a:p>
          <a:p>
            <a:pPr>
              <a:lnSpc>
                <a:spcPts val="2100"/>
              </a:lnSpc>
              <a:spcAft>
                <a:spcPts val="600"/>
              </a:spcAft>
              <a:defRPr sz="1400">
                <a:solidFill>
                  <a:srgbClr val="2C3E50"/>
                </a:solidFill>
                <a:latin typeface="Calibri"/>
              </a:defRPr>
            </a:pPr>
            <a:r>
              <a:t>✦  IoT Smart Bin Integration (Ultrasonic Sensors)</a:t>
            </a:r>
          </a:p>
          <a:p>
            <a:pPr>
              <a:lnSpc>
                <a:spcPts val="2100"/>
              </a:lnSpc>
              <a:spcAft>
                <a:spcPts val="600"/>
              </a:spcAft>
              <a:defRPr sz="1400">
                <a:solidFill>
                  <a:srgbClr val="2C3E50"/>
                </a:solidFill>
                <a:latin typeface="Calibri"/>
              </a:defRPr>
            </a:pPr>
            <a:r>
              <a:t>✦  Real-time Fill-level Monitoring &amp; Alerts</a:t>
            </a:r>
          </a:p>
          <a:p>
            <a:pPr>
              <a:lnSpc>
                <a:spcPts val="2100"/>
              </a:lnSpc>
              <a:spcAft>
                <a:spcPts val="600"/>
              </a:spcAft>
              <a:defRPr sz="1400">
                <a:solidFill>
                  <a:srgbClr val="2C3E50"/>
                </a:solidFill>
                <a:latin typeface="Calibri"/>
              </a:defRPr>
            </a:pPr>
            <a:r>
              <a:t>✦  RESTful API with Blueprint Architecture</a:t>
            </a:r>
          </a:p>
        </p:txBody>
      </p:sp>
      <p:sp>
        <p:nvSpPr>
          <p:cNvPr id="10" name="Rectangle 9"/>
          <p:cNvSpPr/>
          <p:nvPr/>
        </p:nvSpPr>
        <p:spPr>
          <a:xfrm>
            <a:off x="6035040" y="1371600"/>
            <a:ext cx="36576" cy="411480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731520"/>
          </a:xfrm>
          <a:prstGeom prst="rect">
            <a:avLst/>
          </a:prstGeom>
          <a:noFill/>
        </p:spPr>
        <p:txBody>
          <a:bodyPr wrap="square">
            <a:spAutoFit/>
          </a:bodyPr>
          <a:lstStyle/>
          <a:p>
            <a:pPr algn="l">
              <a:defRPr sz="3200" b="1">
                <a:solidFill>
                  <a:srgbClr val="0D9276"/>
                </a:solidFill>
                <a:latin typeface="Calibri"/>
              </a:defRPr>
            </a:pPr>
            <a:r>
              <a:t>Hardware &amp; Software Requirements</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5029200" cy="457200"/>
          </a:xfrm>
          <a:prstGeom prst="rect">
            <a:avLst/>
          </a:prstGeom>
          <a:noFill/>
        </p:spPr>
        <p:txBody>
          <a:bodyPr wrap="square">
            <a:spAutoFit/>
          </a:bodyPr>
          <a:lstStyle/>
          <a:p>
            <a:pPr algn="l">
              <a:defRPr sz="2000" b="1">
                <a:solidFill>
                  <a:srgbClr val="E67E22"/>
                </a:solidFill>
                <a:latin typeface="Calibri"/>
              </a:defRPr>
            </a:pPr>
            <a:r>
              <a:t>⚙️  Hardware Requirements</a:t>
            </a:r>
          </a:p>
        </p:txBody>
      </p:sp>
      <p:sp>
        <p:nvSpPr>
          <p:cNvPr id="7" name="TextBox 6"/>
          <p:cNvSpPr txBox="1"/>
          <p:nvPr/>
        </p:nvSpPr>
        <p:spPr>
          <a:xfrm>
            <a:off x="731520" y="1920240"/>
            <a:ext cx="5303520" cy="4572000"/>
          </a:xfrm>
          <a:prstGeom prst="rect">
            <a:avLst/>
          </a:prstGeom>
          <a:noFill/>
        </p:spPr>
        <p:txBody>
          <a:bodyPr wrap="square">
            <a:spAutoFit/>
          </a:bodyPr>
          <a:lstStyle/>
          <a:p>
            <a:pPr>
              <a:lnSpc>
                <a:spcPts val="1950"/>
              </a:lnSpc>
              <a:spcAft>
                <a:spcPts val="600"/>
              </a:spcAft>
              <a:defRPr sz="1300">
                <a:solidFill>
                  <a:srgbClr val="2C3E50"/>
                </a:solidFill>
                <a:latin typeface="Calibri"/>
              </a:defRPr>
            </a:pPr>
            <a:r>
              <a:t>▪  Development Machine: Laptop/PC with min. 8GB RAM, i5+ processor</a:t>
            </a:r>
          </a:p>
          <a:p>
            <a:pPr>
              <a:lnSpc>
                <a:spcPts val="1950"/>
              </a:lnSpc>
              <a:spcAft>
                <a:spcPts val="600"/>
              </a:spcAft>
              <a:defRPr sz="1300">
                <a:solidFill>
                  <a:srgbClr val="2C3E50"/>
                </a:solidFill>
                <a:latin typeface="Calibri"/>
              </a:defRPr>
            </a:pPr>
            <a:r>
              <a:t>▪  Smartphone with camera (Android/iOS) for waste classification</a:t>
            </a:r>
          </a:p>
          <a:p>
            <a:pPr>
              <a:lnSpc>
                <a:spcPts val="1950"/>
              </a:lnSpc>
              <a:spcAft>
                <a:spcPts val="600"/>
              </a:spcAft>
              <a:defRPr sz="1300">
                <a:solidFill>
                  <a:srgbClr val="2C3E50"/>
                </a:solidFill>
                <a:latin typeface="Calibri"/>
              </a:defRPr>
            </a:pPr>
            <a:r>
              <a:t>▪  Internet Connectivity: Broadband / 4G LTE for cloud services</a:t>
            </a:r>
          </a:p>
          <a:p>
            <a:pPr>
              <a:lnSpc>
                <a:spcPts val="1950"/>
              </a:lnSpc>
              <a:spcAft>
                <a:spcPts val="600"/>
              </a:spcAft>
              <a:defRPr sz="1300">
                <a:solidFill>
                  <a:srgbClr val="2C3E50"/>
                </a:solidFill>
                <a:latin typeface="Calibri"/>
              </a:defRPr>
            </a:pPr>
            <a:r>
              <a:t>▪  Ultrasonic Sensors (HC-SR04): Installed at collection points/smart bins for real-time waste fill-level detection</a:t>
            </a:r>
          </a:p>
          <a:p>
            <a:pPr>
              <a:lnSpc>
                <a:spcPts val="1950"/>
              </a:lnSpc>
              <a:spcAft>
                <a:spcPts val="600"/>
              </a:spcAft>
              <a:defRPr sz="1300">
                <a:solidFill>
                  <a:srgbClr val="2C3E50"/>
                </a:solidFill>
                <a:latin typeface="Calibri"/>
              </a:defRPr>
            </a:pPr>
            <a:r>
              <a:t>▪  Microcontroller (Arduino/ESP32): To interface ultrasonic sensors and transmit fill-level data via Wi-Fi/IoT</a:t>
            </a:r>
          </a:p>
          <a:p>
            <a:pPr>
              <a:lnSpc>
                <a:spcPts val="1950"/>
              </a:lnSpc>
              <a:spcAft>
                <a:spcPts val="600"/>
              </a:spcAft>
              <a:defRPr sz="1300">
                <a:solidFill>
                  <a:srgbClr val="2C3E50"/>
                </a:solidFill>
                <a:latin typeface="Calibri"/>
              </a:defRPr>
            </a:pPr>
            <a:r>
              <a:t>▪  GPS Module: For collector location tracking and route optimization</a:t>
            </a:r>
          </a:p>
          <a:p>
            <a:pPr>
              <a:lnSpc>
                <a:spcPts val="1950"/>
              </a:lnSpc>
              <a:spcAft>
                <a:spcPts val="600"/>
              </a:spcAft>
              <a:defRPr sz="1300">
                <a:solidFill>
                  <a:srgbClr val="2C3E50"/>
                </a:solidFill>
                <a:latin typeface="Calibri"/>
              </a:defRPr>
            </a:pPr>
            <a:r>
              <a:t>▪  Cloud Server: Render (Backend) + Vercel (Frontend) hosting</a:t>
            </a:r>
          </a:p>
        </p:txBody>
      </p:sp>
      <p:sp>
        <p:nvSpPr>
          <p:cNvPr id="8" name="TextBox 7"/>
          <p:cNvSpPr txBox="1"/>
          <p:nvPr/>
        </p:nvSpPr>
        <p:spPr>
          <a:xfrm>
            <a:off x="6400800" y="1371600"/>
            <a:ext cx="5029200" cy="457200"/>
          </a:xfrm>
          <a:prstGeom prst="rect">
            <a:avLst/>
          </a:prstGeom>
          <a:noFill/>
        </p:spPr>
        <p:txBody>
          <a:bodyPr wrap="square">
            <a:spAutoFit/>
          </a:bodyPr>
          <a:lstStyle/>
          <a:p>
            <a:pPr algn="l">
              <a:defRPr sz="2000" b="1">
                <a:solidFill>
                  <a:srgbClr val="27AE60"/>
                </a:solidFill>
                <a:latin typeface="Calibri"/>
              </a:defRPr>
            </a:pPr>
            <a:r>
              <a:t>💻  Software Requirements</a:t>
            </a:r>
          </a:p>
        </p:txBody>
      </p:sp>
      <p:sp>
        <p:nvSpPr>
          <p:cNvPr id="9" name="TextBox 8"/>
          <p:cNvSpPr txBox="1"/>
          <p:nvPr/>
        </p:nvSpPr>
        <p:spPr>
          <a:xfrm>
            <a:off x="6400800" y="1920240"/>
            <a:ext cx="5303520" cy="4572000"/>
          </a:xfrm>
          <a:prstGeom prst="rect">
            <a:avLst/>
          </a:prstGeom>
          <a:noFill/>
        </p:spPr>
        <p:txBody>
          <a:bodyPr wrap="square">
            <a:spAutoFit/>
          </a:bodyPr>
          <a:lstStyle/>
          <a:p>
            <a:pPr>
              <a:lnSpc>
                <a:spcPts val="1950"/>
              </a:lnSpc>
              <a:spcAft>
                <a:spcPts val="600"/>
              </a:spcAft>
              <a:defRPr sz="1300">
                <a:solidFill>
                  <a:srgbClr val="2C3E50"/>
                </a:solidFill>
                <a:latin typeface="Calibri"/>
              </a:defRPr>
            </a:pPr>
            <a:r>
              <a:t>▪  Frontend: React 18, Tailwind CSS, Leaflet.js, Recharts</a:t>
            </a:r>
          </a:p>
          <a:p>
            <a:pPr>
              <a:lnSpc>
                <a:spcPts val="1950"/>
              </a:lnSpc>
              <a:spcAft>
                <a:spcPts val="600"/>
              </a:spcAft>
              <a:defRPr sz="1300">
                <a:solidFill>
                  <a:srgbClr val="2C3E50"/>
                </a:solidFill>
                <a:latin typeface="Calibri"/>
              </a:defRPr>
            </a:pPr>
            <a:r>
              <a:t>▪  Backend: Python 3.11+, Flask, Flask-JWT-Extended</a:t>
            </a:r>
          </a:p>
          <a:p>
            <a:pPr>
              <a:lnSpc>
                <a:spcPts val="1950"/>
              </a:lnSpc>
              <a:spcAft>
                <a:spcPts val="600"/>
              </a:spcAft>
              <a:defRPr sz="1300">
                <a:solidFill>
                  <a:srgbClr val="2C3E50"/>
                </a:solidFill>
                <a:latin typeface="Calibri"/>
              </a:defRPr>
            </a:pPr>
            <a:r>
              <a:t>▪  Database: PostgreSQL 14+ (Neon/Render)</a:t>
            </a:r>
          </a:p>
          <a:p>
            <a:pPr>
              <a:lnSpc>
                <a:spcPts val="1950"/>
              </a:lnSpc>
              <a:spcAft>
                <a:spcPts val="600"/>
              </a:spcAft>
              <a:defRPr sz="1300">
                <a:solidFill>
                  <a:srgbClr val="2C3E50"/>
                </a:solidFill>
                <a:latin typeface="Calibri"/>
              </a:defRPr>
            </a:pPr>
            <a:r>
              <a:t>▪  AI/ML: Google Gemini AI API, MobileNet (TFLite)</a:t>
            </a:r>
          </a:p>
          <a:p>
            <a:pPr>
              <a:lnSpc>
                <a:spcPts val="1950"/>
              </a:lnSpc>
              <a:spcAft>
                <a:spcPts val="600"/>
              </a:spcAft>
              <a:defRPr sz="1300">
                <a:solidFill>
                  <a:srgbClr val="2C3E50"/>
                </a:solidFill>
                <a:latin typeface="Calibri"/>
              </a:defRPr>
            </a:pPr>
            <a:r>
              <a:t>▪  IoT Firmware: Arduino IDE / PlatformIO for sensor programming</a:t>
            </a:r>
          </a:p>
          <a:p>
            <a:pPr>
              <a:lnSpc>
                <a:spcPts val="1950"/>
              </a:lnSpc>
              <a:spcAft>
                <a:spcPts val="600"/>
              </a:spcAft>
              <a:defRPr sz="1300">
                <a:solidFill>
                  <a:srgbClr val="2C3E50"/>
                </a:solidFill>
                <a:latin typeface="Calibri"/>
              </a:defRPr>
            </a:pPr>
            <a:r>
              <a:t>▪  Version Control: Git &amp; GitHub</a:t>
            </a:r>
          </a:p>
          <a:p>
            <a:pPr>
              <a:lnSpc>
                <a:spcPts val="1950"/>
              </a:lnSpc>
              <a:spcAft>
                <a:spcPts val="600"/>
              </a:spcAft>
              <a:defRPr sz="1300">
                <a:solidFill>
                  <a:srgbClr val="2C3E50"/>
                </a:solidFill>
                <a:latin typeface="Calibri"/>
              </a:defRPr>
            </a:pPr>
            <a:r>
              <a:t>▪  Deployment: Vercel (Frontend), Render (Backend)</a:t>
            </a:r>
          </a:p>
          <a:p>
            <a:pPr>
              <a:lnSpc>
                <a:spcPts val="1950"/>
              </a:lnSpc>
              <a:spcAft>
                <a:spcPts val="600"/>
              </a:spcAft>
              <a:defRPr sz="1300">
                <a:solidFill>
                  <a:srgbClr val="2C3E50"/>
                </a:solidFill>
                <a:latin typeface="Calibri"/>
              </a:defRPr>
            </a:pPr>
            <a:r>
              <a:t>▪  IDE: VS Code with ESLint, Prettier, Python extensions</a:t>
            </a:r>
          </a:p>
          <a:p>
            <a:pPr>
              <a:lnSpc>
                <a:spcPts val="1950"/>
              </a:lnSpc>
              <a:spcAft>
                <a:spcPts val="600"/>
              </a:spcAft>
              <a:defRPr sz="1300">
                <a:solidFill>
                  <a:srgbClr val="2C3E50"/>
                </a:solidFill>
                <a:latin typeface="Calibri"/>
              </a:defRPr>
            </a:pPr>
            <a:r>
              <a:t>▪  API Testing: Postman / Thunder Client</a:t>
            </a:r>
          </a:p>
          <a:p>
            <a:pPr>
              <a:lnSpc>
                <a:spcPts val="1950"/>
              </a:lnSpc>
              <a:spcAft>
                <a:spcPts val="600"/>
              </a:spcAft>
              <a:defRPr sz="1300">
                <a:solidFill>
                  <a:srgbClr val="2C3E50"/>
                </a:solidFill>
                <a:latin typeface="Calibri"/>
              </a:defRPr>
            </a:pPr>
            <a:r>
              <a:t>▪  OS: Windows 10+ / macOS / Linux</a:t>
            </a:r>
          </a:p>
        </p:txBody>
      </p:sp>
      <p:sp>
        <p:nvSpPr>
          <p:cNvPr id="10" name="Rectangle 9"/>
          <p:cNvSpPr/>
          <p:nvPr/>
        </p:nvSpPr>
        <p:spPr>
          <a:xfrm>
            <a:off x="6035040" y="1371600"/>
            <a:ext cx="36576" cy="502920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731520"/>
          </a:xfrm>
          <a:prstGeom prst="rect">
            <a:avLst/>
          </a:prstGeom>
          <a:noFill/>
        </p:spPr>
        <p:txBody>
          <a:bodyPr wrap="square">
            <a:spAutoFit/>
          </a:bodyPr>
          <a:lstStyle/>
          <a:p>
            <a:pPr algn="l">
              <a:defRPr sz="3200" b="1">
                <a:solidFill>
                  <a:srgbClr val="0D9276"/>
                </a:solidFill>
                <a:latin typeface="Calibri"/>
              </a:defRPr>
            </a:pPr>
            <a:r>
              <a:t>Conclusion</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63040"/>
            <a:ext cx="10515600" cy="914400"/>
          </a:xfrm>
          <a:prstGeom prst="rect">
            <a:avLst/>
          </a:prstGeom>
          <a:noFill/>
        </p:spPr>
        <p:txBody>
          <a:bodyPr wrap="square">
            <a:spAutoFit/>
          </a:bodyPr>
          <a:lstStyle/>
          <a:p>
            <a:pPr algn="l">
              <a:defRPr sz="1600" b="0">
                <a:solidFill>
                  <a:srgbClr val="2C3E50"/>
                </a:solidFill>
                <a:latin typeface="Calibri"/>
              </a:defRPr>
            </a:pPr>
            <a:r>
              <a:t>SmartWaste360 presents a holistic, technology-driven approach to urban waste management by seamlessly integrating Artificial Intelligence, Internet of Things (IoT), and modern web technologies into a single, unified platform. The system addresses critical gaps in existing solutions by providing:</a:t>
            </a:r>
          </a:p>
        </p:txBody>
      </p:sp>
      <p:sp>
        <p:nvSpPr>
          <p:cNvPr id="7" name="TextBox 6"/>
          <p:cNvSpPr txBox="1"/>
          <p:nvPr/>
        </p:nvSpPr>
        <p:spPr>
          <a:xfrm>
            <a:off x="914400" y="2468880"/>
            <a:ext cx="10058400" cy="2743200"/>
          </a:xfrm>
          <a:prstGeom prst="rect">
            <a:avLst/>
          </a:prstGeom>
          <a:noFill/>
        </p:spPr>
        <p:txBody>
          <a:bodyPr wrap="square">
            <a:spAutoFit/>
          </a:bodyPr>
          <a:lstStyle/>
          <a:p>
            <a:pPr>
              <a:lnSpc>
                <a:spcPts val="2250"/>
              </a:lnSpc>
              <a:spcAft>
                <a:spcPts val="600"/>
              </a:spcAft>
              <a:defRPr sz="1500">
                <a:solidFill>
                  <a:srgbClr val="2C3E50"/>
                </a:solidFill>
                <a:latin typeface="Calibri"/>
              </a:defRPr>
            </a:pPr>
            <a:r>
              <a:t>✔  Automated waste classification through AI, eliminating reliance on manual sorting</a:t>
            </a:r>
          </a:p>
          <a:p>
            <a:pPr>
              <a:lnSpc>
                <a:spcPts val="2250"/>
              </a:lnSpc>
              <a:spcAft>
                <a:spcPts val="600"/>
              </a:spcAft>
              <a:defRPr sz="1500">
                <a:solidFill>
                  <a:srgbClr val="2C3E50"/>
                </a:solidFill>
                <a:latin typeface="Calibri"/>
              </a:defRPr>
            </a:pPr>
            <a:r>
              <a:t>✔  Real-time monitoring of bin fill levels using ultrasonic sensors, preventing overflow and optimizing collection</a:t>
            </a:r>
          </a:p>
          <a:p>
            <a:pPr>
              <a:lnSpc>
                <a:spcPts val="2250"/>
              </a:lnSpc>
              <a:spcAft>
                <a:spcPts val="600"/>
              </a:spcAft>
              <a:defRPr sz="1500">
                <a:solidFill>
                  <a:srgbClr val="2C3E50"/>
                </a:solidFill>
                <a:latin typeface="Calibri"/>
              </a:defRPr>
            </a:pPr>
            <a:r>
              <a:t>✔  A community-driven engagement model with gamification to encourage responsible waste disposal</a:t>
            </a:r>
          </a:p>
          <a:p>
            <a:pPr>
              <a:lnSpc>
                <a:spcPts val="2250"/>
              </a:lnSpc>
              <a:spcAft>
                <a:spcPts val="600"/>
              </a:spcAft>
              <a:defRPr sz="1500">
                <a:solidFill>
                  <a:srgbClr val="2C3E50"/>
                </a:solidFill>
                <a:latin typeface="Calibri"/>
              </a:defRPr>
            </a:pPr>
            <a:r>
              <a:t>✔  Data-driven insights through comprehensive analytics dashboards for municipal authorities</a:t>
            </a:r>
          </a:p>
          <a:p>
            <a:pPr>
              <a:lnSpc>
                <a:spcPts val="2250"/>
              </a:lnSpc>
              <a:spcAft>
                <a:spcPts val="600"/>
              </a:spcAft>
              <a:defRPr sz="1500">
                <a:solidFill>
                  <a:srgbClr val="2C3E50"/>
                </a:solidFill>
                <a:latin typeface="Calibri"/>
              </a:defRPr>
            </a:pPr>
            <a:r>
              <a:t>✔  An affordable, open-source, cloud-native solution deployable in smart cities across India</a:t>
            </a:r>
          </a:p>
        </p:txBody>
      </p:sp>
      <p:sp>
        <p:nvSpPr>
          <p:cNvPr id="8" name="TextBox 7"/>
          <p:cNvSpPr txBox="1"/>
          <p:nvPr/>
        </p:nvSpPr>
        <p:spPr>
          <a:xfrm>
            <a:off x="731520" y="5029200"/>
            <a:ext cx="10515600" cy="914400"/>
          </a:xfrm>
          <a:prstGeom prst="rect">
            <a:avLst/>
          </a:prstGeom>
          <a:noFill/>
        </p:spPr>
        <p:txBody>
          <a:bodyPr wrap="square">
            <a:spAutoFit/>
          </a:bodyPr>
          <a:lstStyle/>
          <a:p>
            <a:pPr algn="l">
              <a:defRPr sz="1500" b="0">
                <a:solidFill>
                  <a:srgbClr val="27AE60"/>
                </a:solidFill>
                <a:latin typeface="Calibri"/>
              </a:defRPr>
            </a:pPr>
            <a:r>
              <a:t>Future enhancements include offline classification support, native mobile applications, WebSocket-based real-time updates, multi-language support, and integration with municipal ERP systems for end-to-end waste lifecycle management.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731520"/>
          </a:xfrm>
          <a:prstGeom prst="rect">
            <a:avLst/>
          </a:prstGeom>
          <a:noFill/>
        </p:spPr>
        <p:txBody>
          <a:bodyPr wrap="square">
            <a:spAutoFit/>
          </a:bodyPr>
          <a:lstStyle/>
          <a:p>
            <a:pPr algn="l">
              <a:defRPr sz="3200" b="1">
                <a:solidFill>
                  <a:srgbClr val="0D9276"/>
                </a:solidFill>
                <a:latin typeface="Calibri"/>
              </a:defRPr>
            </a:pPr>
            <a:r>
              <a:t>References</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789920" cy="502920"/>
          </a:xfrm>
          <a:prstGeom prst="rect">
            <a:avLst/>
          </a:prstGeom>
          <a:noFill/>
        </p:spPr>
        <p:txBody>
          <a:bodyPr wrap="square">
            <a:spAutoFit/>
          </a:bodyPr>
          <a:lstStyle/>
          <a:p>
            <a:pPr algn="l">
              <a:defRPr sz="1100" b="0">
                <a:solidFill>
                  <a:srgbClr val="2C3E50"/>
                </a:solidFill>
                <a:latin typeface="Calibri"/>
              </a:defRPr>
            </a:pPr>
            <a:r>
              <a:t>[1]  World Bank, "What a Waste 2.0: A Global Snapshot of Solid Waste Management to 2050," World Bank Group, 2018.</a:t>
            </a:r>
          </a:p>
        </p:txBody>
      </p:sp>
      <p:sp>
        <p:nvSpPr>
          <p:cNvPr id="7" name="TextBox 6"/>
          <p:cNvSpPr txBox="1"/>
          <p:nvPr/>
        </p:nvSpPr>
        <p:spPr>
          <a:xfrm>
            <a:off x="731520" y="1874520"/>
            <a:ext cx="10789920" cy="502920"/>
          </a:xfrm>
          <a:prstGeom prst="rect">
            <a:avLst/>
          </a:prstGeom>
          <a:noFill/>
        </p:spPr>
        <p:txBody>
          <a:bodyPr wrap="square">
            <a:spAutoFit/>
          </a:bodyPr>
          <a:lstStyle/>
          <a:p>
            <a:pPr algn="l">
              <a:defRPr sz="1100" b="0">
                <a:solidFill>
                  <a:srgbClr val="2C3E50"/>
                </a:solidFill>
                <a:latin typeface="Calibri"/>
              </a:defRPr>
            </a:pPr>
            <a:r>
              <a:t>[2]  S. Kumar et al., "IoT-Based Smart Waste Management System Using Ultrasonic Sensors and Machine Learning," IEEE Access, vol. 9, pp. 46789–46800, 2021.</a:t>
            </a:r>
          </a:p>
        </p:txBody>
      </p:sp>
      <p:sp>
        <p:nvSpPr>
          <p:cNvPr id="8" name="TextBox 7"/>
          <p:cNvSpPr txBox="1"/>
          <p:nvPr/>
        </p:nvSpPr>
        <p:spPr>
          <a:xfrm>
            <a:off x="731520" y="2377440"/>
            <a:ext cx="10789920" cy="502920"/>
          </a:xfrm>
          <a:prstGeom prst="rect">
            <a:avLst/>
          </a:prstGeom>
          <a:noFill/>
        </p:spPr>
        <p:txBody>
          <a:bodyPr wrap="square">
            <a:spAutoFit/>
          </a:bodyPr>
          <a:lstStyle/>
          <a:p>
            <a:pPr algn="l">
              <a:defRPr sz="1100" b="0">
                <a:solidFill>
                  <a:srgbClr val="2C3E50"/>
                </a:solidFill>
                <a:latin typeface="Calibri"/>
              </a:defRPr>
            </a:pPr>
            <a:r>
              <a:t>[3]  M. Aazam et al., "Cloud-IoT Based Smart Waste Collection System Using Big Data Analytics," Springer, Journal of Ambient Intelligence and Humanized Computing, 2020.</a:t>
            </a:r>
          </a:p>
        </p:txBody>
      </p:sp>
      <p:sp>
        <p:nvSpPr>
          <p:cNvPr id="9" name="TextBox 8"/>
          <p:cNvSpPr txBox="1"/>
          <p:nvPr/>
        </p:nvSpPr>
        <p:spPr>
          <a:xfrm>
            <a:off x="731520" y="2880360"/>
            <a:ext cx="10789920" cy="502920"/>
          </a:xfrm>
          <a:prstGeom prst="rect">
            <a:avLst/>
          </a:prstGeom>
          <a:noFill/>
        </p:spPr>
        <p:txBody>
          <a:bodyPr wrap="square">
            <a:spAutoFit/>
          </a:bodyPr>
          <a:lstStyle/>
          <a:p>
            <a:pPr algn="l">
              <a:defRPr sz="1100" b="0">
                <a:solidFill>
                  <a:srgbClr val="2C3E50"/>
                </a:solidFill>
                <a:latin typeface="Calibri"/>
              </a:defRPr>
            </a:pPr>
            <a:r>
              <a:t>[4]  Central Pollution Control Board (CPCB), "Annual Report on Solid Waste Management in India," Ministry of Environment, Forest and Climate Change, Government of India, 2023.</a:t>
            </a:r>
          </a:p>
        </p:txBody>
      </p:sp>
      <p:sp>
        <p:nvSpPr>
          <p:cNvPr id="10" name="TextBox 9"/>
          <p:cNvSpPr txBox="1"/>
          <p:nvPr/>
        </p:nvSpPr>
        <p:spPr>
          <a:xfrm>
            <a:off x="731520" y="3383280"/>
            <a:ext cx="10789920" cy="502920"/>
          </a:xfrm>
          <a:prstGeom prst="rect">
            <a:avLst/>
          </a:prstGeom>
          <a:noFill/>
        </p:spPr>
        <p:txBody>
          <a:bodyPr wrap="square">
            <a:spAutoFit/>
          </a:bodyPr>
          <a:lstStyle/>
          <a:p>
            <a:pPr algn="l">
              <a:defRPr sz="1100" b="0">
                <a:solidFill>
                  <a:srgbClr val="2C3E50"/>
                </a:solidFill>
                <a:latin typeface="Calibri"/>
              </a:defRPr>
            </a:pPr>
            <a:r>
              <a:t>[5]  Google, "Gemini AI API Documentation," Google DeepMind, 2024. [Online]. Available: https://ai.google.dev/</a:t>
            </a:r>
          </a:p>
        </p:txBody>
      </p:sp>
      <p:sp>
        <p:nvSpPr>
          <p:cNvPr id="11" name="TextBox 10"/>
          <p:cNvSpPr txBox="1"/>
          <p:nvPr/>
        </p:nvSpPr>
        <p:spPr>
          <a:xfrm>
            <a:off x="731520" y="3886200"/>
            <a:ext cx="10789920" cy="502920"/>
          </a:xfrm>
          <a:prstGeom prst="rect">
            <a:avLst/>
          </a:prstGeom>
          <a:noFill/>
        </p:spPr>
        <p:txBody>
          <a:bodyPr wrap="square">
            <a:spAutoFit/>
          </a:bodyPr>
          <a:lstStyle/>
          <a:p>
            <a:pPr algn="l">
              <a:defRPr sz="1100" b="0">
                <a:solidFill>
                  <a:srgbClr val="2C3E50"/>
                </a:solidFill>
                <a:latin typeface="Calibri"/>
              </a:defRPr>
            </a:pPr>
            <a:r>
              <a:t>[6]  A. Sharma &amp; R. Gupta, "Smart Bin: An IoT-Based Waste Management and Segregation System Using Ultrasonic and Infrared Sensors," International Journal of Engineering Research, vol. 7, 2022.</a:t>
            </a:r>
          </a:p>
        </p:txBody>
      </p:sp>
      <p:sp>
        <p:nvSpPr>
          <p:cNvPr id="12" name="TextBox 11"/>
          <p:cNvSpPr txBox="1"/>
          <p:nvPr/>
        </p:nvSpPr>
        <p:spPr>
          <a:xfrm>
            <a:off x="731520" y="4389120"/>
            <a:ext cx="10789920" cy="502920"/>
          </a:xfrm>
          <a:prstGeom prst="rect">
            <a:avLst/>
          </a:prstGeom>
          <a:noFill/>
        </p:spPr>
        <p:txBody>
          <a:bodyPr wrap="square">
            <a:spAutoFit/>
          </a:bodyPr>
          <a:lstStyle/>
          <a:p>
            <a:pPr algn="l">
              <a:defRPr sz="1100" b="0">
                <a:solidFill>
                  <a:srgbClr val="2C3E50"/>
                </a:solidFill>
                <a:latin typeface="Calibri"/>
              </a:defRPr>
            </a:pPr>
            <a:r>
              <a:t>[7]  React.js Documentation, Meta Platforms Inc., 2024. [Online]. Available: https://react.dev/</a:t>
            </a:r>
          </a:p>
        </p:txBody>
      </p:sp>
      <p:sp>
        <p:nvSpPr>
          <p:cNvPr id="13" name="TextBox 12"/>
          <p:cNvSpPr txBox="1"/>
          <p:nvPr/>
        </p:nvSpPr>
        <p:spPr>
          <a:xfrm>
            <a:off x="731520" y="4892040"/>
            <a:ext cx="10789920" cy="502920"/>
          </a:xfrm>
          <a:prstGeom prst="rect">
            <a:avLst/>
          </a:prstGeom>
          <a:noFill/>
        </p:spPr>
        <p:txBody>
          <a:bodyPr wrap="square">
            <a:spAutoFit/>
          </a:bodyPr>
          <a:lstStyle/>
          <a:p>
            <a:pPr algn="l">
              <a:defRPr sz="1100" b="0">
                <a:solidFill>
                  <a:srgbClr val="2C3E50"/>
                </a:solidFill>
                <a:latin typeface="Calibri"/>
              </a:defRPr>
            </a:pPr>
            <a:r>
              <a:t>[8]  Flask Documentation, Pallets Projects, 2024. [Online]. Available: https://flask.palletsprojects.com/</a:t>
            </a:r>
          </a:p>
        </p:txBody>
      </p:sp>
      <p:sp>
        <p:nvSpPr>
          <p:cNvPr id="14" name="TextBox 13"/>
          <p:cNvSpPr txBox="1"/>
          <p:nvPr/>
        </p:nvSpPr>
        <p:spPr>
          <a:xfrm>
            <a:off x="731520" y="5394960"/>
            <a:ext cx="10789920" cy="502920"/>
          </a:xfrm>
          <a:prstGeom prst="rect">
            <a:avLst/>
          </a:prstGeom>
          <a:noFill/>
        </p:spPr>
        <p:txBody>
          <a:bodyPr wrap="square">
            <a:spAutoFit/>
          </a:bodyPr>
          <a:lstStyle/>
          <a:p>
            <a:pPr algn="l">
              <a:defRPr sz="1100" b="0">
                <a:solidFill>
                  <a:srgbClr val="2C3E50"/>
                </a:solidFill>
                <a:latin typeface="Calibri"/>
              </a:defRPr>
            </a:pPr>
            <a:r>
              <a:t>[9]  PostgreSQL Global Development Group, "PostgreSQL 16 Documentation," 2024. [Online]. Available: https://www.postgresql.org/docs/</a:t>
            </a:r>
          </a:p>
        </p:txBody>
      </p:sp>
      <p:sp>
        <p:nvSpPr>
          <p:cNvPr id="15" name="TextBox 14"/>
          <p:cNvSpPr txBox="1"/>
          <p:nvPr/>
        </p:nvSpPr>
        <p:spPr>
          <a:xfrm>
            <a:off x="731520" y="5897880"/>
            <a:ext cx="10789920" cy="502920"/>
          </a:xfrm>
          <a:prstGeom prst="rect">
            <a:avLst/>
          </a:prstGeom>
          <a:noFill/>
        </p:spPr>
        <p:txBody>
          <a:bodyPr wrap="square">
            <a:spAutoFit/>
          </a:bodyPr>
          <a:lstStyle/>
          <a:p>
            <a:pPr algn="l">
              <a:defRPr sz="1100" b="0">
                <a:solidFill>
                  <a:srgbClr val="2C3E50"/>
                </a:solidFill>
                <a:latin typeface="Calibri"/>
              </a:defRPr>
            </a:pPr>
            <a:r>
              <a:t>[10] Ministry of Housing and Urban Affairs, "Smart Cities Mission – Guidelines," Government of India, 2023.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91695" cy="73152"/>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2286000"/>
            <a:ext cx="9601200" cy="1097280"/>
          </a:xfrm>
          <a:prstGeom prst="rect">
            <a:avLst/>
          </a:prstGeom>
          <a:noFill/>
        </p:spPr>
        <p:txBody>
          <a:bodyPr wrap="square">
            <a:spAutoFit/>
          </a:bodyPr>
          <a:lstStyle/>
          <a:p>
            <a:pPr algn="ctr">
              <a:defRPr sz="5200" b="1">
                <a:solidFill>
                  <a:srgbClr val="FFFFFF"/>
                </a:solidFill>
                <a:latin typeface="Calibri"/>
              </a:defRPr>
            </a:pPr>
            <a:r>
              <a:t>Thank You!</a:t>
            </a:r>
          </a:p>
        </p:txBody>
      </p:sp>
      <p:sp>
        <p:nvSpPr>
          <p:cNvPr id="6" name="Rectangle 5"/>
          <p:cNvSpPr/>
          <p:nvPr/>
        </p:nvSpPr>
        <p:spPr>
          <a:xfrm>
            <a:off x="5029200" y="4297680"/>
            <a:ext cx="2286000" cy="36576"/>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0" y="4754880"/>
            <a:ext cx="8686800" cy="1371600"/>
          </a:xfrm>
          <a:prstGeom prst="rect">
            <a:avLst/>
          </a:prstGeom>
          <a:noFill/>
        </p:spPr>
        <p:txBody>
          <a:bodyPr wrap="square">
            <a:spAutoFit/>
          </a:bodyPr>
          <a:lstStyle/>
          <a:p>
            <a:pPr algn="ctr">
              <a:defRPr sz="1600" b="0">
                <a:solidFill>
                  <a:srgbClr val="BDC3C7"/>
                </a:solidFill>
                <a:latin typeface="Calibri"/>
              </a:defRPr>
            </a:pPr>
            <a:r>
              <a:t>SmartWaste360  —  Making Waste Management Smarter</a:t>
            </a:r>
            <a:br/>
            <a:r>
              <a:t>🌐 smartwaste360-frontend.vercel.app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1819</Words>
  <Application>Microsoft Office PowerPoint</Application>
  <PresentationFormat>Widescreen</PresentationFormat>
  <Paragraphs>118</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23-733-006_CHENNAVARAM BALA DHEERAJ</cp:lastModifiedBy>
  <cp:revision>4</cp:revision>
  <dcterms:created xsi:type="dcterms:W3CDTF">2013-01-27T09:14:16Z</dcterms:created>
  <dcterms:modified xsi:type="dcterms:W3CDTF">2026-05-15T06:32:38Z</dcterms:modified>
  <cp:category/>
</cp:coreProperties>
</file>